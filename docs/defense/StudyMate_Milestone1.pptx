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ca85126c6f4a06" /><Relationship Type="http://schemas.openxmlformats.org/officeDocument/2006/relationships/extended-properties" Target="/docProps/app.xml" Id="R743c7b1a6ed1411a" /><Relationship Type="http://schemas.openxmlformats.org/officeDocument/2006/relationships/officeDocument" Target="/ppt/presentation.xml" Id="R12eb18bc48c948a7" /></Relationships>
</file>

<file path=ppt/presentation.xml><?xml version="1.0" encoding="utf-8"?>
<p:presentation xmlns:p="http://schemas.openxmlformats.org/presentationml/2006/main">
  <p:sldMasterIdLst>
    <p:sldMasterId xmlns:r="http://schemas.openxmlformats.org/officeDocument/2006/relationships" id="2147483648" r:id="Red24c410b8ad4d82"/>
  </p:sldMasterIdLst>
  <p:notesMasterIdLst>
    <p:notesMasterId xmlns:r="http://schemas.openxmlformats.org/officeDocument/2006/relationships" r:id="R08096a2207d94184"/>
  </p:notesMasterIdLst>
  <p:sldIdLst>
    <p:sldId xmlns:r="http://schemas.openxmlformats.org/officeDocument/2006/relationships" id="256" r:id="R5f5a05f9445c4ba0"/>
    <p:sldId xmlns:r="http://schemas.openxmlformats.org/officeDocument/2006/relationships" id="257" r:id="Re84c5812216b442f"/>
    <p:sldId xmlns:r="http://schemas.openxmlformats.org/officeDocument/2006/relationships" id="258" r:id="Rec4c4c1dab6d45df"/>
    <p:sldId xmlns:r="http://schemas.openxmlformats.org/officeDocument/2006/relationships" id="259" r:id="Rbf0b2f69a52c42e4"/>
    <p:sldId xmlns:r="http://schemas.openxmlformats.org/officeDocument/2006/relationships" id="260" r:id="Rfcfe61ef9be1499d"/>
    <p:sldId xmlns:r="http://schemas.openxmlformats.org/officeDocument/2006/relationships" id="261" r:id="R47f3d40ac886473d"/>
    <p:sldId xmlns:r="http://schemas.openxmlformats.org/officeDocument/2006/relationships" id="262" r:id="R59333e3452d2424c"/>
    <p:sldId xmlns:r="http://schemas.openxmlformats.org/officeDocument/2006/relationships" id="263" r:id="R93e178593a334319"/>
    <p:sldId xmlns:r="http://schemas.openxmlformats.org/officeDocument/2006/relationships" id="264" r:id="R87a5210238db4e76"/>
    <p:sldId xmlns:r="http://schemas.openxmlformats.org/officeDocument/2006/relationships" id="265" r:id="R98824e94f30c4527"/>
    <p:sldId xmlns:r="http://schemas.openxmlformats.org/officeDocument/2006/relationships" id="266" r:id="R9c095d2f9ac94d3e"/>
    <p:sldId xmlns:r="http://schemas.openxmlformats.org/officeDocument/2006/relationships" id="267" r:id="Ra57dc658b90a4e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6b7bac37724b07" /><Relationship Type="http://schemas.openxmlformats.org/officeDocument/2006/relationships/slideMaster" Target="/ppt/slideMasters/slideMaster1.xml" Id="Red24c410b8ad4d82" /><Relationship Type="http://schemas.openxmlformats.org/officeDocument/2006/relationships/notesMaster" Target="/ppt/notesMasters/notesMaster1.xml" Id="R08096a2207d94184" /><Relationship Type="http://schemas.openxmlformats.org/officeDocument/2006/relationships/presProps" Target="/ppt/presProps.xml" Id="Rff26b44133334d3f" /><Relationship Type="http://schemas.openxmlformats.org/officeDocument/2006/relationships/tableStyles" Target="/ppt/tableStyles.xml" Id="Rda677460c4074d3c" /><Relationship Type="http://schemas.openxmlformats.org/officeDocument/2006/relationships/slide" Target="/ppt/slides/slide1.xml" Id="R5f5a05f9445c4ba0" /><Relationship Type="http://schemas.openxmlformats.org/officeDocument/2006/relationships/slide" Target="/ppt/slides/slide2.xml" Id="Re84c5812216b442f" /><Relationship Type="http://schemas.openxmlformats.org/officeDocument/2006/relationships/slide" Target="/ppt/slides/slide3.xml" Id="Rec4c4c1dab6d45df" /><Relationship Type="http://schemas.openxmlformats.org/officeDocument/2006/relationships/slide" Target="/ppt/slides/slide4.xml" Id="Rbf0b2f69a52c42e4" /><Relationship Type="http://schemas.openxmlformats.org/officeDocument/2006/relationships/slide" Target="/ppt/slides/slide5.xml" Id="Rfcfe61ef9be1499d" /><Relationship Type="http://schemas.openxmlformats.org/officeDocument/2006/relationships/slide" Target="/ppt/slides/slide6.xml" Id="R47f3d40ac886473d" /><Relationship Type="http://schemas.openxmlformats.org/officeDocument/2006/relationships/slide" Target="/ppt/slides/slide7.xml" Id="R59333e3452d2424c" /><Relationship Type="http://schemas.openxmlformats.org/officeDocument/2006/relationships/slide" Target="/ppt/slides/slide8.xml" Id="R93e178593a334319" /><Relationship Type="http://schemas.openxmlformats.org/officeDocument/2006/relationships/slide" Target="/ppt/slides/slide9.xml" Id="R87a5210238db4e76" /><Relationship Type="http://schemas.openxmlformats.org/officeDocument/2006/relationships/slide" Target="/ppt/slides/slide10.xml" Id="R98824e94f30c4527" /><Relationship Type="http://schemas.openxmlformats.org/officeDocument/2006/relationships/slide" Target="/ppt/slides/slide11.xml" Id="R9c095d2f9ac94d3e" /><Relationship Type="http://schemas.openxmlformats.org/officeDocument/2006/relationships/slide" Target="/ppt/slides/slide12.xml" Id="Ra57dc658b90a4e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3d7d0ef9864e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3ff0c62fd8435d" /><Relationship Type="http://schemas.openxmlformats.org/officeDocument/2006/relationships/notesMaster" Target="/ppt/notesMasters/notesMaster1.xml" Id="R2b11a68304a648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74f7afee614b4a" /><Relationship Type="http://schemas.openxmlformats.org/officeDocument/2006/relationships/notesMaster" Target="/ppt/notesMasters/notesMaster1.xml" Id="R1cc91dd9bf3d44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108f72fd1f49b4" /><Relationship Type="http://schemas.openxmlformats.org/officeDocument/2006/relationships/notesMaster" Target="/ppt/notesMasters/notesMaster1.xml" Id="R89ea818a8f3c45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7d1980f09348b6" /><Relationship Type="http://schemas.openxmlformats.org/officeDocument/2006/relationships/notesMaster" Target="/ppt/notesMasters/notesMaster1.xml" Id="R5ddecfbaabe442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96000172c04dae" /><Relationship Type="http://schemas.openxmlformats.org/officeDocument/2006/relationships/notesMaster" Target="/ppt/notesMasters/notesMaster1.xml" Id="Re9a04437c1e74d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4b930a6bab43e0" /><Relationship Type="http://schemas.openxmlformats.org/officeDocument/2006/relationships/notesMaster" Target="/ppt/notesMasters/notesMaster1.xml" Id="R4a0e48281fd640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db997622c3421d" /><Relationship Type="http://schemas.openxmlformats.org/officeDocument/2006/relationships/notesMaster" Target="/ppt/notesMasters/notesMaster1.xml" Id="R62b3c80519124c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2bd4e088a74b9a" /><Relationship Type="http://schemas.openxmlformats.org/officeDocument/2006/relationships/notesMaster" Target="/ppt/notesMasters/notesMaster1.xml" Id="Rce30da5972074c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196af5b925407d" /><Relationship Type="http://schemas.openxmlformats.org/officeDocument/2006/relationships/notesMaster" Target="/ppt/notesMasters/notesMaster1.xml" Id="R20293fa2234046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6cbee2641f45eb" /><Relationship Type="http://schemas.openxmlformats.org/officeDocument/2006/relationships/notesMaster" Target="/ppt/notesMasters/notesMaster1.xml" Id="Rfb0c943288e84d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9f3163480f24540" /><Relationship Type="http://schemas.openxmlformats.org/officeDocument/2006/relationships/notesMaster" Target="/ppt/notesMasters/notesMaster1.xml" Id="R4e0a507932b045c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df3070a8dc4d84" /><Relationship Type="http://schemas.openxmlformats.org/officeDocument/2006/relationships/notesMaster" Target="/ppt/notesMasters/notesMaster1.xml" Id="Rf2915698e7854b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Arlan — 0:00–0:40</a:t>
            </a:r>
          </a:p>
          <a:p xmlns:a="http://schemas.openxmlformats.org/drawingml/2006/main">
            <a:r>
              <a:t/>
            </a:r>
          </a:p>
          <a:p xmlns:a="http://schemas.openxmlformats.org/drawingml/2006/main">
            <a:r>
              <a:t>Good afternoon. We are Study Devs, and our project is StudyMate. It helps students find people for an in-person study session. Today we will explain the problem, our requirements, the interface, and the database design. We will also show the repository and our task board. Our focus for this milestone is the plan for the system.</a:t>
            </a:r>
          </a:p>
          <a:p xmlns:a="http://schemas.openxmlformats.org/drawingml/2006/main">
            <a:r>
              <a:t/>
            </a:r>
          </a:p>
          <a:p xmlns:a="http://schemas.openxmlformats.org/drawingml/2006/main">
            <a:r>
              <a:t>Sources: supplied SOE205_Milestone1_Requirements_Grading.pdf; supplied StudyMate_Project_Documentation_Updated.docx; https://github.com/aliwer-qanadil/studymate/blob/main/docs/SRS.md. Audit reads on 8 October 2026. New ERD, matching definitions, wireframes, QA ownership and implementation schedule are proposed designs for team review. Cover image: existing frontend src/assets/sdu-campus.png.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Arlan — 0:40–1:30</a:t>
            </a:r>
          </a:p>
          <a:p xmlns:a="http://schemas.openxmlformats.org/drawingml/2006/main">
            <a:r>
              <a:t/>
            </a:r>
          </a:p>
          <a:p xmlns:a="http://schemas.openxmlformats.org/drawingml/2006/main">
            <a:r>
              <a:t>Our target users are university students who want to study together on campus. Imagine that you have a difficult database topic and want to practise with classmates. You need people who study the same subject, can meet at the same time, and have a suitable knowledge level. These details are often spread across separate chats. StudyMate brings the meeting details and join requests into one place. This is our problem assumption. We still need user interviews to test how often students face it.</a:t>
            </a:r>
          </a:p>
          <a:p xmlns:a="http://schemas.openxmlformats.org/drawingml/2006/main">
            <a:r>
              <a:t/>
            </a:r>
          </a:p>
          <a:p xmlns:a="http://schemas.openxmlformats.org/drawingml/2006/main">
            <a:r>
              <a:t>Sources: supplied SOE205_Milestone1_Requirements_Grading.pdf; supplied StudyMate_Project_Documentation_Updated.docx; https://github.com/aliwer-qanadil/studymate/blob/main/docs/SRS.md. Audit reads on 8 October 2026. New ERD, matching definitions, wireframes, QA ownership and implementation schedule are proposed designs for team review.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Arlan — 1:30–2:20</a:t>
            </a:r>
          </a:p>
          <a:p xmlns:a="http://schemas.openxmlformats.org/drawingml/2006/main">
            <a:r>
              <a:t/>
            </a:r>
          </a:p>
          <a:p xmlns:a="http://schemas.openxmlformats.org/drawingml/2006/main">
            <a:r>
              <a:t>We keep the first version focused on a complete study-group journey. Students register, sign in, and create or find a group. They answer a short application form. The organizer checks the answers and the compatibility result, then accepts or rejects the application. We have left chat, shared files, ratings, and monetization outside the current version. This keeps the project realistic for our course. The interface preview has some extra ideas, but the SRS defines what we actually plan to deliver.</a:t>
            </a:r>
          </a:p>
          <a:p xmlns:a="http://schemas.openxmlformats.org/drawingml/2006/main">
            <a:r>
              <a:t/>
            </a:r>
          </a:p>
          <a:p xmlns:a="http://schemas.openxmlformats.org/drawingml/2006/main">
            <a:r>
              <a:t>Sources: supplied SOE205_Milestone1_Requirements_Grading.pdf; supplied StudyMate_Project_Documentation_Updated.docx; https://github.com/aliwer-qanadil/studymate/blob/main/docs/SRS.md. Audit reads on 8 October 2026. New ERD, matching definitions, wireframes, QA ownership and implementation schedule are proposed designs for team review.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Arlan — 2:20–3:20</a:t>
            </a:r>
          </a:p>
          <a:p xmlns:a="http://schemas.openxmlformats.org/drawingml/2006/main">
            <a:r>
              <a:t/>
            </a:r>
          </a:p>
          <a:p xmlns:a="http://schemas.openxmlformats.org/drawingml/2006/main">
            <a:r>
              <a:t>Our SRS contains eighteen user stories in four epics: accounts, groups, join requests, and compatibility. Each story has acceptance criteria in Given, When, Then format. There are twenty-nine scenarios in total. We used MoSCoW to separate the essential journey from improvements. For example, creating a group is Must-have, filtering by subject is Should-have, and editing saved preferences is Could-have. We do not treat a written story as an implemented feature. We use the same story identifiers in the SRS, task board, and design mapping.</a:t>
            </a:r>
          </a:p>
          <a:p xmlns:a="http://schemas.openxmlformats.org/drawingml/2006/main">
            <a:r>
              <a:t/>
            </a:r>
          </a:p>
          <a:p xmlns:a="http://schemas.openxmlformats.org/drawingml/2006/main">
            <a:r>
              <a:t>Sources: supplied SOE205_Milestone1_Requirements_Grading.pdf; supplied StudyMate_Project_Documentation_Updated.docx; https://github.com/aliwer-qanadil/studymate/blob/main/docs/SRS.md. Audit reads on 8 October 2026. New ERD, matching definitions, wireframes, QA ownership and implementation schedule are proposed designs for team review.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Agabek — 3:20–4:20</a:t>
            </a:r>
          </a:p>
          <a:p xmlns:a="http://schemas.openxmlformats.org/drawingml/2006/main">
            <a:r>
              <a:t/>
            </a:r>
          </a:p>
          <a:p xmlns:a="http://schemas.openxmlformats.org/drawingml/2006/main">
            <a:r>
              <a:t>Acceptance criteria tell us what we need to check. For story eleven, a complete application should create one Pending request. If the student submits again while a Pending request already exists, we should not create another one. Our non-functional requirements are measurable too. The performance target is that ninety-five percent of group-list requests finish within two seconds with one hundred concurrent users and one thousand groups. For usability, at least four out of five new students should find a group and apply within two minutes. These are future test targets. We have not claimed that the current interface passes them.</a:t>
            </a:r>
          </a:p>
          <a:p xmlns:a="http://schemas.openxmlformats.org/drawingml/2006/main">
            <a:r>
              <a:t/>
            </a:r>
          </a:p>
          <a:p xmlns:a="http://schemas.openxmlformats.org/drawingml/2006/main">
            <a:r>
              <a:t>Sources: supplied SOE205_Milestone1_Requirements_Grading.pdf; supplied StudyMate_Project_Documentation_Updated.docx; https://github.com/aliwer-qanadil/studymate/blob/main/docs/SRS.md. Audit reads on 8 October 2026. New ERD, matching definitions, wireframes, QA ownership and implementation schedule are proposed designs for team review.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Bakdaulet — 4:20–5:00</a:t>
            </a:r>
          </a:p>
          <a:p xmlns:a="http://schemas.openxmlformats.org/drawingml/2006/main">
            <a:r>
              <a:t/>
            </a:r>
          </a:p>
          <a:p xmlns:a="http://schemas.openxmlformats.org/drawingml/2006/main">
            <a:r>
              <a:t>The design covers both sides of the process. The applicant opens a group, reads the meeting details, answers the questions, and submits the application. The organizer opens the incoming requests, checks the score and answers, and makes a decision. Registration, profile preferences, and group creation have separate screens. Errors appear beside the relevant fields. Pending, Accepted, and Rejected use clear text, so users do not need to understand the status from color alone.</a:t>
            </a:r>
          </a:p>
          <a:p xmlns:a="http://schemas.openxmlformats.org/drawingml/2006/main">
            <a:r>
              <a:t/>
            </a:r>
          </a:p>
          <a:p xmlns:a="http://schemas.openxmlformats.org/drawingml/2006/main">
            <a:r>
              <a:t>Sources: supplied SOE205_Milestone1_Requirements_Grading.pdf; supplied StudyMate_Project_Documentation_Updated.docx; https://github.com/aliwer-qanadil/studymate/blob/main/docs/SRS.md. Audit reads on 8 October 2026. New ERD, matching definitions, wireframes, QA ownership and implementation schedule are proposed designs for team review.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Bakdaulet — 5:00–7:00</a:t>
            </a:r>
          </a:p>
          <a:p xmlns:a="http://schemas.openxmlformats.org/drawingml/2006/main">
            <a:r>
              <a:t/>
            </a:r>
          </a:p>
          <a:p xmlns:a="http://schemas.openxmlformats.org/drawingml/2006/main">
            <a:r>
              <a:t>I will now show the main journey. We open the database study session and check the subject, location, meeting time, and organizer. The applicant enters a matching subject and an available time that covers the session. Their level is different, and they leave optional preferences empty. After submission, the request is Pending. Now we switch to the organizer view. The organizer sees the answers and the seventy-percent score. They accept the request, and the applicant's status becomes Accepted. We can reset this example and show rejection as well. The prototype demonstrates navigation and intended states. It does not demonstrate real authentication or database storage.</a:t>
            </a:r>
          </a:p>
          <a:p xmlns:a="http://schemas.openxmlformats.org/drawingml/2006/main">
            <a:r>
              <a:t/>
            </a:r>
          </a:p>
          <a:p xmlns:a="http://schemas.openxmlformats.org/drawingml/2006/main">
            <a:r>
              <a:t>Sources: supplied SOE205_Milestone1_Requirements_Grading.pdf; supplied StudyMate_Project_Documentation_Updated.docx; https://github.com/aliwer-qanadil/studymate/blob/main/docs/SRS.md. Audit reads on 8 October 2026. New ERD, matching definitions, wireframes, QA ownership and implementation schedule are proposed designs for team review.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Yelnar — 7:00–8:30</a:t>
            </a:r>
          </a:p>
          <a:p xmlns:a="http://schemas.openxmlformats.org/drawingml/2006/main">
            <a:r>
              <a:t/>
            </a:r>
          </a:p>
          <a:p xmlns:a="http://schemas.openxmlformats.org/drawingml/2006/main">
            <a:r>
              <a:t>Our proposed database separates users, subjects, groups, and join requests. A user can organize many groups, but each group has one organizer. That is a one-to-many relationship. A student can also apply to several groups, and a group can receive applications from many students. Join requests connect these two sides and store the applicant's answers and status. In this design, group members come from Accepted requests. We do not keep a second independent membership record that could disagree with the request. The complete diagram also includes preferences and optional profile data. This is a database design for implementation, not a schema extracted from a running backend.</a:t>
            </a:r>
          </a:p>
          <a:p xmlns:a="http://schemas.openxmlformats.org/drawingml/2006/main">
            <a:r>
              <a:t/>
            </a:r>
          </a:p>
          <a:p xmlns:a="http://schemas.openxmlformats.org/drawingml/2006/main">
            <a:r>
              <a:t>Sources: supplied SOE205_Milestone1_Requirements_Grading.pdf; supplied StudyMate_Project_Documentation_Updated.docx; https://github.com/aliwer-qanadil/studymate/blob/main/docs/SRS.md. Audit reads on 8 October 2026. New ERD, matching definitions, wireframes, QA ownership and implementation schedule are proposed designs for team review.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Yelnar — 8:30–9:30</a:t>
            </a:r>
          </a:p>
          <a:p xmlns:a="http://schemas.openxmlformats.org/drawingml/2006/main">
            <a:r>
              <a:t/>
            </a:r>
          </a:p>
          <a:p xmlns:a="http://schemas.openxmlformats.org/drawingml/2006/main">
            <a:r>
              <a:t>We designed the schema through Third Normal Form. Subject names and course codes belong to the subject table. Groups and applications refer to a subject by its key. Multiple preferences use separate junction rows, so we avoid comma-separated values. Each descriptive attribute depends on the key of its own table. We store the submitted application answers separately from profile preferences, because a later profile edit should not change an older application. A partial unique index prevents duplicate Pending requests. Accepting or rejecting a request uses a transaction and changes only a Pending row. We also prepared a traceability table that connects interface fields with these database attributes.</a:t>
            </a:r>
          </a:p>
          <a:p xmlns:a="http://schemas.openxmlformats.org/drawingml/2006/main">
            <a:r>
              <a:t/>
            </a:r>
          </a:p>
          <a:p xmlns:a="http://schemas.openxmlformats.org/drawingml/2006/main">
            <a:r>
              <a:t>Sources: supplied SOE205_Milestone1_Requirements_Grading.pdf; supplied StudyMate_Project_Documentation_Updated.docx; https://github.com/aliwer-qanadil/studymate/blob/main/docs/SRS.md. Audit reads on 8 October 2026. New ERD, matching definitions, wireframes, QA ownership and implementation schedule are proposed designs for team review.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Yelnar — 9:30–10:30</a:t>
            </a:r>
          </a:p>
          <a:p xmlns:a="http://schemas.openxmlformats.org/drawingml/2006/main">
            <a:r>
              <a:t/>
            </a:r>
          </a:p>
          <a:p xmlns:a="http://schemas.openxmlformats.org/drawingml/2006/main">
            <a:r>
              <a:t>The matching rule is a simple weighted calculation. The same subject gives forty points, a compatible time gives thirty, the same knowledge level gives twenty, and matching optional preferences give ten. A component gives zero when it does not match. For the demonstration, subject and time match, while level and optional preferences do not. The result is seventy percent. We propose that compatible time means the applicant can attend the whole session. We also propose exact matching for non-empty preference sets. These details still need team agreement. The score helps the organizer compare applicants. The organizer makes the final decision.</a:t>
            </a:r>
          </a:p>
          <a:p xmlns:a="http://schemas.openxmlformats.org/drawingml/2006/main">
            <a:r>
              <a:t/>
            </a:r>
          </a:p>
          <a:p xmlns:a="http://schemas.openxmlformats.org/drawingml/2006/main">
            <a:r>
              <a:t>Sources: supplied SOE205_Milestone1_Requirements_Grading.pdf; supplied StudyMate_Project_Documentation_Updated.docx; https://github.com/aliwer-qanadil/studymate/blob/main/docs/SRS.md. Audit reads on 8 October 2026. New ERD, matching definitions, wireframes, QA ownership and implementation schedule are proposed designs for team review.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Alisher — 10:30–11:30</a:t>
            </a:r>
          </a:p>
          <a:p xmlns:a="http://schemas.openxmlformats.org/drawingml/2006/main">
            <a:r>
              <a:t/>
            </a:r>
          </a:p>
          <a:p xmlns:a="http://schemas.openxmlformats.org/drawingml/2006/main">
            <a:r>
              <a:t>We use GitHub for the project and Trello for tasks. The main branch contains documentation. The frontend branch contains the React interface preview, and the backend branch currently contains only a README. I will show the commit history and the Pull Request list. During our audit, the list had no Pull Requests and branch protection was disabled. These are remaining process gaps, so we cannot claim that every member has completed the required review-and-merge cycle yet. The task board contains all eighteen stories, but owners and current statuses also need updating. Our next step is for each member to review a real contribution through their own Pull Request.</a:t>
            </a:r>
          </a:p>
          <a:p xmlns:a="http://schemas.openxmlformats.org/drawingml/2006/main">
            <a:r>
              <a:t/>
            </a:r>
          </a:p>
          <a:p xmlns:a="http://schemas.openxmlformats.org/drawingml/2006/main">
            <a:r>
              <a:t>Sources: supplied SOE205_Milestone1_Requirements_Grading.pdf; supplied StudyMate_Project_Documentation_Updated.docx; https://github.com/aliwer-qanadil/studymate/blob/main/docs/SRS.md. Audit reads on 8 October 2026. New ERD, matching definitions, wireframes, QA ownership and implementation schedule are proposed designs for team review.  Process statements refer to the audit snapshot. Update them after actual team PRs and board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Alisher — 11:30–12:00</a:t>
            </a:r>
          </a:p>
          <a:p xmlns:a="http://schemas.openxmlformats.org/drawingml/2006/main">
            <a:r>
              <a:t/>
            </a:r>
          </a:p>
          <a:p xmlns:a="http://schemas.openxmlformats.org/drawingml/2006/main">
            <a:r>
              <a:t>Our proposed implementation sequence starts with accounts and shared API contracts. Next we build groups, applications, and compatibility. After integration, we check the acceptance criteria and the non-functional targets. The final weeks are for fixes and the final demonstration. We will build the eleven Must-have stories first. We are ready to discuss the design and the remaining decisions. Thank you.</a:t>
            </a:r>
          </a:p>
          <a:p xmlns:a="http://schemas.openxmlformats.org/drawingml/2006/main">
            <a:r>
              <a:t/>
            </a:r>
          </a:p>
          <a:p xmlns:a="http://schemas.openxmlformats.org/drawingml/2006/main">
            <a:r>
              <a:t>Sources: supplied SOE205_Milestone1_Requirements_Grading.pdf; supplied StudyMate_Project_Documentation_Updated.docx; https://github.com/aliwer-qanadil/studymate/blob/main/docs/SRS.md. Audit reads on 8 October 2026. New ERD, matching definitions, wireframes, QA ownership and implementation schedule are proposed designs for team review.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b4966295ac4f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cb62accc4a4b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001f6996b941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0d01a6c81946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d025eecc2b43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4e4a1be15c48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683345-6F9E-4C30-A13B-0F540194A0D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79086BF-B280-4745-A2BB-9FF8A823375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9CDF9FA-5E7C-467A-88ED-39B1B9F7F3B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3AAE5E-11C6-4A06-979A-7872D6CDE9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337C64A-443B-48EB-83DA-9D86F9CAFD4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6AC116-AD3C-4693-9C37-2DC7592E54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947144-BA9F-4471-9400-C7BA553EDB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0DBDCE-E193-4F4C-9264-1CEE68201C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669438-C7B4-4AB3-B5B3-941B8CEF55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D48627-4935-4A81-B13E-24BBBD7884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ee850dcedc44fa" /><Relationship Type="http://schemas.openxmlformats.org/officeDocument/2006/relationships/slideLayout" Target="/ppt/slideLayouts/slideLayout1.xml" Id="Rb6f79e9791cb471d" /><Relationship Type="http://schemas.openxmlformats.org/officeDocument/2006/relationships/slideLayout" Target="/ppt/slideLayouts/slideLayout2.xml" Id="R069eb6c59c4e4dfa" /><Relationship Type="http://schemas.openxmlformats.org/officeDocument/2006/relationships/slideLayout" Target="/ppt/slideLayouts/slideLayout3.xml" Id="Ra36891866e8e44c9" /><Relationship Type="http://schemas.openxmlformats.org/officeDocument/2006/relationships/slideLayout" Target="/ppt/slideLayouts/slideLayout4.xml" Id="R53989ba5e50949c3" /><Relationship Type="http://schemas.openxmlformats.org/officeDocument/2006/relationships/slideLayout" Target="/ppt/slideLayouts/slideLayout5.xml" Id="R3d9020cbe7144fcf" /><Relationship Type="http://schemas.openxmlformats.org/officeDocument/2006/relationships/slideLayout" Target="/ppt/slideLayouts/slideLayout6.xml" Id="R594c505321704e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f79e9791cb471d"/>
    <p:sldLayoutId xmlns:r="http://schemas.openxmlformats.org/officeDocument/2006/relationships" id="2147483650" r:id="R069eb6c59c4e4dfa"/>
    <p:sldLayoutId xmlns:r="http://schemas.openxmlformats.org/officeDocument/2006/relationships" id="2147483651" r:id="Ra36891866e8e44c9"/>
    <p:sldLayoutId xmlns:r="http://schemas.openxmlformats.org/officeDocument/2006/relationships" id="2147483652" r:id="R53989ba5e50949c3"/>
    <p:sldLayoutId xmlns:r="http://schemas.openxmlformats.org/officeDocument/2006/relationships" id="2147483653" r:id="R3d9020cbe7144fcf"/>
    <p:sldLayoutId xmlns:r="http://schemas.openxmlformats.org/officeDocument/2006/relationships" id="2147483654" r:id="R594c505321704e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f626309682b4f57" /><Relationship Type="http://schemas.openxmlformats.org/officeDocument/2006/relationships/image" Target="/ppt/media/image.png" Id="Rcd5916a8b04747ca" /><Relationship Type="http://schemas.openxmlformats.org/officeDocument/2006/relationships/notesSlide" Target="/ppt/notesSlides/notesSlide1.xml" Id="Rf287d31a6e2a4f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9aa8e20127b433a" /><Relationship Type="http://schemas.openxmlformats.org/officeDocument/2006/relationships/notesSlide" Target="/ppt/notesSlides/notesSlide2.xml" Id="Rec376ffd8b1742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d04b98a5ad4692" /><Relationship Type="http://schemas.openxmlformats.org/officeDocument/2006/relationships/notesSlide" Target="/ppt/notesSlides/notesSlide3.xml" Id="R0c4651df475444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736bda8536743a8" /><Relationship Type="http://schemas.openxmlformats.org/officeDocument/2006/relationships/notesSlide" Target="/ppt/notesSlides/notesSlide4.xml" Id="Rdd7584ee202d41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bec7fcf048a4000" /><Relationship Type="http://schemas.openxmlformats.org/officeDocument/2006/relationships/notesSlide" Target="/ppt/notesSlides/notesSlide5.xml" Id="Reac255c1d6c643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aa73ae399d04cee" /><Relationship Type="http://schemas.openxmlformats.org/officeDocument/2006/relationships/notesSlide" Target="/ppt/notesSlides/notesSlide6.xml" Id="R78084209a7a04a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bb1d198396e4595" /><Relationship Type="http://schemas.openxmlformats.org/officeDocument/2006/relationships/notesSlide" Target="/ppt/notesSlides/notesSlide7.xml" Id="R106d8b05d38b46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89fb86280ef40a3" /><Relationship Type="http://schemas.openxmlformats.org/officeDocument/2006/relationships/notesSlide" Target="/ppt/notesSlides/notesSlide8.xml" Id="R05b0ba51800643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c183796944431d" /><Relationship Type="http://schemas.openxmlformats.org/officeDocument/2006/relationships/notesSlide" Target="/ppt/notesSlides/notesSlide9.xml" Id="R61724a85d8ef40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7b1740283734642" /><Relationship Type="http://schemas.openxmlformats.org/officeDocument/2006/relationships/notesSlide" Target="/ppt/notesSlides/notesSlide10.xml" Id="R4fe6b38ff3ec4f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664fb614e204af9" /><Relationship Type="http://schemas.openxmlformats.org/officeDocument/2006/relationships/notesSlide" Target="/ppt/notesSlides/notesSlide11.xml" Id="R5f745ef662c341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e45d212583e4265" /><Relationship Type="http://schemas.openxmlformats.org/officeDocument/2006/relationships/notesSlide" Target="/ppt/notesSlides/notesSlide12.xml" Id="R34cde17a4a8947d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tudyMate">
            <a:extLst xmlns:a="http://schemas.openxmlformats.org/drawingml/2006/main">
              <a:ext uri="{FF2B5EF4-FFF2-40B4-BE49-F238E27FC236}">
                <a16:creationId xmlns:a16="http://schemas.microsoft.com/office/drawing/2014/main" id="{F19B2F20-C49A-4DF2-AA08-C293FC04B7CA}"/>
              </a:ext>
            </a:extLst>
          </p:cNvPr>
          <p:cNvSpPr>
            <a:spLocks xmlns:a="http://schemas.openxmlformats.org/drawingml/2006/main" noGrp="1"/>
          </p:cNvSpPr>
          <p:nvPr/>
        </p:nvSpPr>
        <p:spPr>
          <a:xfrm xmlns:a="http://schemas.openxmlformats.org/drawingml/2006/main">
            <a:off x="609600" y="1733550"/>
            <a:ext cx="7334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262A54"/>
                </a:solidFill>
                <a:latin typeface="DejaVu Sans"/>
                <a:ea typeface="DejaVu Sans"/>
                <a:cs typeface="DejaVu Sans"/>
              </a:defRPr>
            </a:defPPr>
          </a:lstStyle>
          <a:p xmlns:a="http://schemas.openxmlformats.org/drawingml/2006/main">
            <a:pPr>
              <a:defRPr sz="6450" b="1">
                <a:solidFill>
                  <a:srgbClr val="262A54"/>
                </a:solidFill>
                <a:latin typeface="DejaVu Sans"/>
                <a:ea typeface="DejaVu Sans"/>
                <a:cs typeface="DejaVu Sans"/>
              </a:defRPr>
            </a:pPr>
            <a:r>
              <a:rPr sz="6450" b="1">
                <a:solidFill>
                  <a:srgbClr val="262A54"/>
                </a:solidFill>
                <a:latin typeface="DejaVu Sans"/>
                <a:ea typeface="DejaVu Sans"/>
                <a:cs typeface="DejaVu Sans"/>
              </a:rPr>
              <a:t>StudyMate</a:t>
            </a:r>
          </a:p>
        </p:txBody>
      </p:sp>
      <p:sp>
        <p:nvSpPr>
          <p:cNvPr id="2" name="01">
            <a:extLst xmlns:a="http://schemas.openxmlformats.org/drawingml/2006/main">
              <a:ext uri="{FF2B5EF4-FFF2-40B4-BE49-F238E27FC236}">
                <a16:creationId xmlns:a16="http://schemas.microsoft.com/office/drawing/2014/main" id="{336B7D37-DB19-4AC5-8938-27BB76F306D2}"/>
              </a:ext>
            </a:extLst>
          </p:cNvPr>
          <p:cNvSpPr>
            <a:spLocks xmlns:a="http://schemas.openxmlformats.org/drawingml/2006/main" noGrp="1"/>
          </p:cNvSpPr>
          <p:nvPr/>
        </p:nvSpPr>
        <p:spPr>
          <a:xfrm xmlns:a="http://schemas.openxmlformats.org/drawingml/2006/main">
            <a:off x="11334750" y="6257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06878"/>
                </a:solidFill>
                <a:latin typeface="DejaVu Sans"/>
                <a:ea typeface="DejaVu Sans"/>
                <a:cs typeface="DejaVu Sans"/>
              </a:defRPr>
            </a:defPPr>
          </a:lstStyle>
          <a:p xmlns:a="http://schemas.openxmlformats.org/drawingml/2006/main">
            <a:pPr>
              <a:defRPr sz="1200" b="0">
                <a:solidFill>
                  <a:srgbClr val="606878"/>
                </a:solidFill>
                <a:latin typeface="DejaVu Sans"/>
                <a:ea typeface="DejaVu Sans"/>
                <a:cs typeface="DejaVu Sans"/>
              </a:defRPr>
            </a:pPr>
            <a:r>
              <a:rPr sz="1200" b="0">
                <a:solidFill>
                  <a:srgbClr val="606878"/>
                </a:solidFill>
                <a:latin typeface="DejaVu Sans"/>
                <a:ea typeface="DejaVu Sans"/>
                <a:cs typeface="DejaVu Sans"/>
              </a:rPr>
              <a:t>01</a:t>
            </a:r>
          </a:p>
        </p:txBody>
      </p:sp>
      <p:sp>
        <p:nvSpPr>
          <p:cNvPr id="3" name="Finding people for an in-person study session">
            <a:extLst xmlns:a="http://schemas.openxmlformats.org/drawingml/2006/main">
              <a:ext uri="{FF2B5EF4-FFF2-40B4-BE49-F238E27FC236}">
                <a16:creationId xmlns:a16="http://schemas.microsoft.com/office/drawing/2014/main" id="{EF503141-717F-478E-A6A4-280D779DC194}"/>
              </a:ext>
            </a:extLst>
          </p:cNvPr>
          <p:cNvSpPr>
            <a:spLocks xmlns:a="http://schemas.openxmlformats.org/drawingml/2006/main" noGrp="1"/>
          </p:cNvSpPr>
          <p:nvPr/>
        </p:nvSpPr>
        <p:spPr>
          <a:xfrm xmlns:a="http://schemas.openxmlformats.org/drawingml/2006/main">
            <a:off x="628650" y="3124200"/>
            <a:ext cx="6619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0">
                <a:solidFill>
                  <a:srgbClr val="262A54"/>
                </a:solidFill>
                <a:latin typeface="DejaVu Sans"/>
                <a:ea typeface="DejaVu Sans"/>
                <a:cs typeface="DejaVu Sans"/>
              </a:defRPr>
            </a:defPPr>
          </a:lstStyle>
          <a:p xmlns:a="http://schemas.openxmlformats.org/drawingml/2006/main">
            <a:pPr>
              <a:defRPr sz="2700" b="0">
                <a:solidFill>
                  <a:srgbClr val="262A54"/>
                </a:solidFill>
                <a:latin typeface="DejaVu Sans"/>
                <a:ea typeface="DejaVu Sans"/>
                <a:cs typeface="DejaVu Sans"/>
              </a:defRPr>
            </a:pPr>
            <a:r>
              <a:rPr sz="2700" b="0">
                <a:solidFill>
                  <a:srgbClr val="262A54"/>
                </a:solidFill>
                <a:latin typeface="DejaVu Sans"/>
                <a:ea typeface="DejaVu Sans"/>
                <a:cs typeface="DejaVu Sans"/>
              </a:rPr>
              <a:t>Finding people for an in-person study session</a:t>
            </a:r>
          </a:p>
        </p:txBody>
      </p:sp>
      <p:sp>
        <p:nvSpPr>
          <p:cNvPr id="4" name="SOE 205 Capstone Project">
            <a:extLst xmlns:a="http://schemas.openxmlformats.org/drawingml/2006/main">
              <a:ext uri="{FF2B5EF4-FFF2-40B4-BE49-F238E27FC236}">
                <a16:creationId xmlns:a16="http://schemas.microsoft.com/office/drawing/2014/main" id="{E78C74F6-567E-4285-B085-3A5E860B67D1}"/>
              </a:ext>
            </a:extLst>
          </p:cNvPr>
          <p:cNvSpPr>
            <a:spLocks xmlns:a="http://schemas.openxmlformats.org/drawingml/2006/main" noGrp="1"/>
          </p:cNvSpPr>
          <p:nvPr/>
        </p:nvSpPr>
        <p:spPr>
          <a:xfrm xmlns:a="http://schemas.openxmlformats.org/drawingml/2006/main">
            <a:off x="628650" y="49530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262A54"/>
                </a:solidFill>
                <a:latin typeface="DejaVu Sans"/>
                <a:ea typeface="DejaVu Sans"/>
                <a:cs typeface="DejaVu Sans"/>
              </a:defRPr>
            </a:defPPr>
          </a:lstStyle>
          <a:p xmlns:a="http://schemas.openxmlformats.org/drawingml/2006/main">
            <a:pPr>
              <a:defRPr sz="1950" b="0">
                <a:solidFill>
                  <a:srgbClr val="262A54"/>
                </a:solidFill>
                <a:latin typeface="DejaVu Sans"/>
                <a:ea typeface="DejaVu Sans"/>
                <a:cs typeface="DejaVu Sans"/>
              </a:defRPr>
            </a:pPr>
            <a:r>
              <a:rPr sz="1950" b="0">
                <a:solidFill>
                  <a:srgbClr val="262A54"/>
                </a:solidFill>
                <a:latin typeface="DejaVu Sans"/>
                <a:ea typeface="DejaVu Sans"/>
                <a:cs typeface="DejaVu Sans"/>
              </a:rPr>
              <a:t>SOE 205 Capstone Project</a:t>
            </a:r>
          </a:p>
        </p:txBody>
      </p:sp>
      <p:sp>
        <p:nvSpPr>
          <p:cNvPr id="5" name="Study Devs · Milestone 1">
            <a:extLst xmlns:a="http://schemas.openxmlformats.org/drawingml/2006/main">
              <a:ext uri="{FF2B5EF4-FFF2-40B4-BE49-F238E27FC236}">
                <a16:creationId xmlns:a16="http://schemas.microsoft.com/office/drawing/2014/main" id="{352614A7-C985-4D0F-9C47-DD198017D5DF}"/>
              </a:ext>
            </a:extLst>
          </p:cNvPr>
          <p:cNvSpPr>
            <a:spLocks xmlns:a="http://schemas.openxmlformats.org/drawingml/2006/main" noGrp="1"/>
          </p:cNvSpPr>
          <p:nvPr/>
        </p:nvSpPr>
        <p:spPr>
          <a:xfrm xmlns:a="http://schemas.openxmlformats.org/drawingml/2006/main">
            <a:off x="628650" y="53911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06878"/>
                </a:solidFill>
                <a:latin typeface="DejaVu Sans"/>
                <a:ea typeface="DejaVu Sans"/>
                <a:cs typeface="DejaVu Sans"/>
              </a:defRPr>
            </a:defPPr>
          </a:lstStyle>
          <a:p xmlns:a="http://schemas.openxmlformats.org/drawingml/2006/main">
            <a:pPr>
              <a:defRPr sz="1800" b="0">
                <a:solidFill>
                  <a:srgbClr val="606878"/>
                </a:solidFill>
                <a:latin typeface="DejaVu Sans"/>
                <a:ea typeface="DejaVu Sans"/>
                <a:cs typeface="DejaVu Sans"/>
              </a:defRPr>
            </a:pPr>
            <a:r>
              <a:rPr sz="1800" b="0">
                <a:solidFill>
                  <a:srgbClr val="606878"/>
                </a:solidFill>
                <a:latin typeface="DejaVu Sans"/>
                <a:ea typeface="DejaVu Sans"/>
                <a:cs typeface="DejaVu Sans"/>
              </a:rPr>
              <a:t>Study Devs · Milestone 1</a:t>
            </a:r>
          </a:p>
        </p:txBody>
      </p:sp>
      <p:pic>
        <p:nvPicPr>
          <p:cNvPr id="6" name="">
            <a:extLst xmlns:a="http://schemas.openxmlformats.org/drawingml/2006/main">
              <a:ext uri="{FF2B5EF4-FFF2-40B4-BE49-F238E27FC236}">
                <a16:creationId xmlns:a16="http://schemas.microsoft.com/office/drawing/2014/main" id="{750A19EC-C21A-40A9-B971-73ECC0F507DF}"/>
              </a:ext>
            </a:extLst>
          </p:cNvPr>
          <p:cNvPicPr>
            <a:picLocks xmlns:a="http://schemas.openxmlformats.org/drawingml/2006/main" noChangeAspect="1"/>
          </p:cNvPicPr>
          <p:nvPr/>
        </p:nvPicPr>
        <p:blipFill>
          <a:blip xmlns:r="http://schemas.openxmlformats.org/officeDocument/2006/relationships" xmlns:a="http://schemas.openxmlformats.org/drawingml/2006/main" r:embed="Rcd5916a8b04747ca"/>
          <a:srcRect xmlns:a="http://schemas.openxmlformats.org/drawingml/2006/main" l="32989" t="0" r="32989" b="0"/>
          <a:stretch xmlns:a="http://schemas.openxmlformats.org/drawingml/2006/main">
            <a:fillRect l="0" t="0" r="0" b="0"/>
          </a:stretch>
        </p:blipFill>
        <p:spPr>
          <a:xfrm xmlns:a="http://schemas.openxmlformats.org/drawingml/2006/main">
            <a:off x="8172450" y="0"/>
            <a:ext cx="4019550" cy="6858000"/>
          </a:xfrm>
          <a:prstGeom xmlns:a="http://schemas.openxmlformats.org/drawingml/2006/main" prst="rect">
            <a:avLst/>
          </a:prstGeom>
        </p:spPr>
      </p:pic>
    </p:spTree>
    <p:extLst>
      <p:ext uri="{BB962C8B-B14F-4D97-AF65-F5344CB8AC3E}">
        <p14:creationId xmlns:p14="http://schemas.microsoft.com/office/powerpoint/2010/main" val="17400882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he student problem">
            <a:extLst xmlns:a="http://schemas.openxmlformats.org/drawingml/2006/main">
              <a:ext uri="{FF2B5EF4-FFF2-40B4-BE49-F238E27FC236}">
                <a16:creationId xmlns:a16="http://schemas.microsoft.com/office/drawing/2014/main" id="{35505B71-FC28-425F-B3BA-DB4DCE6817D8}"/>
              </a:ext>
            </a:extLst>
          </p:cNvPr>
          <p:cNvSpPr>
            <a:spLocks xmlns:a="http://schemas.openxmlformats.org/drawingml/2006/main" noGrp="1"/>
          </p:cNvSpPr>
          <p:nvPr/>
        </p:nvSpPr>
        <p:spPr>
          <a:xfrm xmlns:a="http://schemas.openxmlformats.org/drawingml/2006/main">
            <a:off x="609600" y="476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262A54"/>
                </a:solidFill>
                <a:latin typeface="DejaVu Sans"/>
                <a:ea typeface="DejaVu Sans"/>
                <a:cs typeface="DejaVu Sans"/>
              </a:defRPr>
            </a:defPPr>
          </a:lstStyle>
          <a:p xmlns:a="http://schemas.openxmlformats.org/drawingml/2006/main">
            <a:pPr>
              <a:defRPr sz="3225" b="1">
                <a:solidFill>
                  <a:srgbClr val="262A54"/>
                </a:solidFill>
                <a:latin typeface="DejaVu Sans"/>
                <a:ea typeface="DejaVu Sans"/>
                <a:cs typeface="DejaVu Sans"/>
              </a:defRPr>
            </a:pPr>
            <a:r>
              <a:rPr sz="3225" b="1">
                <a:solidFill>
                  <a:srgbClr val="262A54"/>
                </a:solidFill>
                <a:latin typeface="DejaVu Sans"/>
                <a:ea typeface="DejaVu Sans"/>
                <a:cs typeface="DejaVu Sans"/>
              </a:rPr>
              <a:t>The student problem</a:t>
            </a:r>
          </a:p>
        </p:txBody>
      </p:sp>
      <p:sp>
        <p:nvSpPr>
          <p:cNvPr id="2" name="02">
            <a:extLst xmlns:a="http://schemas.openxmlformats.org/drawingml/2006/main">
              <a:ext uri="{FF2B5EF4-FFF2-40B4-BE49-F238E27FC236}">
                <a16:creationId xmlns:a16="http://schemas.microsoft.com/office/drawing/2014/main" id="{1A9EBC9F-3325-48E8-A2DB-C98108A5BDA3}"/>
              </a:ext>
            </a:extLst>
          </p:cNvPr>
          <p:cNvSpPr>
            <a:spLocks xmlns:a="http://schemas.openxmlformats.org/drawingml/2006/main" noGrp="1"/>
          </p:cNvSpPr>
          <p:nvPr/>
        </p:nvSpPr>
        <p:spPr>
          <a:xfrm xmlns:a="http://schemas.openxmlformats.org/drawingml/2006/main">
            <a:off x="11334750" y="6257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06878"/>
                </a:solidFill>
                <a:latin typeface="DejaVu Sans"/>
                <a:ea typeface="DejaVu Sans"/>
                <a:cs typeface="DejaVu Sans"/>
              </a:defRPr>
            </a:defPPr>
          </a:lstStyle>
          <a:p xmlns:a="http://schemas.openxmlformats.org/drawingml/2006/main">
            <a:pPr>
              <a:defRPr sz="1200" b="0">
                <a:solidFill>
                  <a:srgbClr val="606878"/>
                </a:solidFill>
                <a:latin typeface="DejaVu Sans"/>
                <a:ea typeface="DejaVu Sans"/>
                <a:cs typeface="DejaVu Sans"/>
              </a:defRPr>
            </a:pPr>
            <a:r>
              <a:rPr sz="1200" b="0">
                <a:solidFill>
                  <a:srgbClr val="606878"/>
                </a:solidFill>
                <a:latin typeface="DejaVu Sans"/>
                <a:ea typeface="DejaVu Sans"/>
                <a:cs typeface="DejaVu Sans"/>
              </a:rPr>
              <a:t>02</a:t>
            </a:r>
          </a:p>
        </p:txBody>
      </p:sp>
      <p:sp>
        <p:nvSpPr>
          <p:cNvPr id="3" name="A student needs help with a difficult subject.">
            <a:extLst xmlns:a="http://schemas.openxmlformats.org/drawingml/2006/main">
              <a:ext uri="{FF2B5EF4-FFF2-40B4-BE49-F238E27FC236}">
                <a16:creationId xmlns:a16="http://schemas.microsoft.com/office/drawing/2014/main" id="{2D55E834-5BC1-4AA8-8791-484DD6FE1B8C}"/>
              </a:ext>
            </a:extLst>
          </p:cNvPr>
          <p:cNvSpPr>
            <a:spLocks xmlns:a="http://schemas.openxmlformats.org/drawingml/2006/main" noGrp="1"/>
          </p:cNvSpPr>
          <p:nvPr/>
        </p:nvSpPr>
        <p:spPr>
          <a:xfrm xmlns:a="http://schemas.openxmlformats.org/drawingml/2006/main">
            <a:off x="609600" y="2047875"/>
            <a:ext cx="10334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262A54"/>
                </a:solidFill>
                <a:latin typeface="DejaVu Sans"/>
                <a:ea typeface="DejaVu Sans"/>
                <a:cs typeface="DejaVu Sans"/>
              </a:defRPr>
            </a:defPPr>
          </a:lstStyle>
          <a:p xmlns:a="http://schemas.openxmlformats.org/drawingml/2006/main">
            <a:pPr>
              <a:defRPr sz="2325" b="0">
                <a:solidFill>
                  <a:srgbClr val="262A54"/>
                </a:solidFill>
                <a:latin typeface="DejaVu Sans"/>
                <a:ea typeface="DejaVu Sans"/>
                <a:cs typeface="DejaVu Sans"/>
              </a:defRPr>
            </a:pPr>
            <a:r>
              <a:rPr sz="2325" b="0">
                <a:solidFill>
                  <a:srgbClr val="262A54"/>
                </a:solidFill>
                <a:latin typeface="DejaVu Sans"/>
                <a:ea typeface="DejaVu Sans"/>
                <a:cs typeface="DejaVu Sans"/>
              </a:rPr>
              <a:t>A student needs help with a difficult subject.</a:t>
            </a:r>
          </a:p>
        </p:txBody>
      </p:sp>
      <p:sp>
        <p:nvSpPr>
          <p:cNvPr id="4" name="Finding classmates with a suitable time takes effort.">
            <a:extLst xmlns:a="http://schemas.openxmlformats.org/drawingml/2006/main">
              <a:ext uri="{FF2B5EF4-FFF2-40B4-BE49-F238E27FC236}">
                <a16:creationId xmlns:a16="http://schemas.microsoft.com/office/drawing/2014/main" id="{5F8B8038-463E-4797-B546-AB45D3B7F50B}"/>
              </a:ext>
            </a:extLst>
          </p:cNvPr>
          <p:cNvSpPr>
            <a:spLocks xmlns:a="http://schemas.openxmlformats.org/drawingml/2006/main" noGrp="1"/>
          </p:cNvSpPr>
          <p:nvPr/>
        </p:nvSpPr>
        <p:spPr>
          <a:xfrm xmlns:a="http://schemas.openxmlformats.org/drawingml/2006/main">
            <a:off x="609600" y="3048000"/>
            <a:ext cx="10334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262A54"/>
                </a:solidFill>
                <a:latin typeface="DejaVu Sans"/>
                <a:ea typeface="DejaVu Sans"/>
                <a:cs typeface="DejaVu Sans"/>
              </a:defRPr>
            </a:defPPr>
          </a:lstStyle>
          <a:p xmlns:a="http://schemas.openxmlformats.org/drawingml/2006/main">
            <a:pPr>
              <a:defRPr sz="2325" b="0">
                <a:solidFill>
                  <a:srgbClr val="262A54"/>
                </a:solidFill>
                <a:latin typeface="DejaVu Sans"/>
                <a:ea typeface="DejaVu Sans"/>
                <a:cs typeface="DejaVu Sans"/>
              </a:defRPr>
            </a:pPr>
            <a:r>
              <a:rPr sz="2325" b="0">
                <a:solidFill>
                  <a:srgbClr val="262A54"/>
                </a:solidFill>
                <a:latin typeface="DejaVu Sans"/>
                <a:ea typeface="DejaVu Sans"/>
                <a:cs typeface="DejaVu Sans"/>
              </a:rPr>
              <a:t>Finding classmates with a suitable time takes effort.</a:t>
            </a:r>
          </a:p>
        </p:txBody>
      </p:sp>
      <p:sp>
        <p:nvSpPr>
          <p:cNvPr id="5" name="A group needs enough information to review applicants.">
            <a:extLst xmlns:a="http://schemas.openxmlformats.org/drawingml/2006/main">
              <a:ext uri="{FF2B5EF4-FFF2-40B4-BE49-F238E27FC236}">
                <a16:creationId xmlns:a16="http://schemas.microsoft.com/office/drawing/2014/main" id="{DC39063B-9492-4F1A-B2E3-671FB1DF68B4}"/>
              </a:ext>
            </a:extLst>
          </p:cNvPr>
          <p:cNvSpPr>
            <a:spLocks xmlns:a="http://schemas.openxmlformats.org/drawingml/2006/main" noGrp="1"/>
          </p:cNvSpPr>
          <p:nvPr/>
        </p:nvSpPr>
        <p:spPr>
          <a:xfrm xmlns:a="http://schemas.openxmlformats.org/drawingml/2006/main">
            <a:off x="609600" y="4048125"/>
            <a:ext cx="10334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262A54"/>
                </a:solidFill>
                <a:latin typeface="DejaVu Sans"/>
                <a:ea typeface="DejaVu Sans"/>
                <a:cs typeface="DejaVu Sans"/>
              </a:defRPr>
            </a:defPPr>
          </a:lstStyle>
          <a:p xmlns:a="http://schemas.openxmlformats.org/drawingml/2006/main">
            <a:pPr>
              <a:defRPr sz="2325" b="0">
                <a:solidFill>
                  <a:srgbClr val="262A54"/>
                </a:solidFill>
                <a:latin typeface="DejaVu Sans"/>
                <a:ea typeface="DejaVu Sans"/>
                <a:cs typeface="DejaVu Sans"/>
              </a:defRPr>
            </a:pPr>
            <a:r>
              <a:rPr sz="2325" b="0">
                <a:solidFill>
                  <a:srgbClr val="262A54"/>
                </a:solidFill>
                <a:latin typeface="DejaVu Sans"/>
                <a:ea typeface="DejaVu Sans"/>
                <a:cs typeface="DejaVu Sans"/>
              </a:rPr>
              <a:t>A group needs enough information to review applicants.</a:t>
            </a:r>
          </a:p>
        </p:txBody>
      </p:sp>
    </p:spTree>
    <p:extLst>
      <p:ext uri="{BB962C8B-B14F-4D97-AF65-F5344CB8AC3E}">
        <p14:creationId xmlns:p14="http://schemas.microsoft.com/office/powerpoint/2010/main" val="5937045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first version">
            <a:extLst xmlns:a="http://schemas.openxmlformats.org/drawingml/2006/main">
              <a:ext uri="{FF2B5EF4-FFF2-40B4-BE49-F238E27FC236}">
                <a16:creationId xmlns:a16="http://schemas.microsoft.com/office/drawing/2014/main" id="{EBC74DB6-7226-4FCC-95EC-98EB7577F313}"/>
              </a:ext>
            </a:extLst>
          </p:cNvPr>
          <p:cNvSpPr>
            <a:spLocks xmlns:a="http://schemas.openxmlformats.org/drawingml/2006/main" noGrp="1"/>
          </p:cNvSpPr>
          <p:nvPr/>
        </p:nvSpPr>
        <p:spPr>
          <a:xfrm xmlns:a="http://schemas.openxmlformats.org/drawingml/2006/main">
            <a:off x="609600" y="476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262A54"/>
                </a:solidFill>
                <a:latin typeface="DejaVu Sans"/>
                <a:ea typeface="DejaVu Sans"/>
                <a:cs typeface="DejaVu Sans"/>
              </a:defRPr>
            </a:defPPr>
          </a:lstStyle>
          <a:p xmlns:a="http://schemas.openxmlformats.org/drawingml/2006/main">
            <a:pPr>
              <a:defRPr sz="3225" b="1">
                <a:solidFill>
                  <a:srgbClr val="262A54"/>
                </a:solidFill>
                <a:latin typeface="DejaVu Sans"/>
                <a:ea typeface="DejaVu Sans"/>
                <a:cs typeface="DejaVu Sans"/>
              </a:defRPr>
            </a:pPr>
            <a:r>
              <a:rPr sz="3225" b="1">
                <a:solidFill>
                  <a:srgbClr val="262A54"/>
                </a:solidFill>
                <a:latin typeface="DejaVu Sans"/>
                <a:ea typeface="DejaVu Sans"/>
                <a:cs typeface="DejaVu Sans"/>
              </a:rPr>
              <a:t>The first version</a:t>
            </a:r>
          </a:p>
        </p:txBody>
      </p:sp>
      <p:sp>
        <p:nvSpPr>
          <p:cNvPr id="2" name="03">
            <a:extLst xmlns:a="http://schemas.openxmlformats.org/drawingml/2006/main">
              <a:ext uri="{FF2B5EF4-FFF2-40B4-BE49-F238E27FC236}">
                <a16:creationId xmlns:a16="http://schemas.microsoft.com/office/drawing/2014/main" id="{4B132F62-0CBF-4699-9519-5836DB647D03}"/>
              </a:ext>
            </a:extLst>
          </p:cNvPr>
          <p:cNvSpPr>
            <a:spLocks xmlns:a="http://schemas.openxmlformats.org/drawingml/2006/main" noGrp="1"/>
          </p:cNvSpPr>
          <p:nvPr/>
        </p:nvSpPr>
        <p:spPr>
          <a:xfrm xmlns:a="http://schemas.openxmlformats.org/drawingml/2006/main">
            <a:off x="11334750" y="6257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06878"/>
                </a:solidFill>
                <a:latin typeface="DejaVu Sans"/>
                <a:ea typeface="DejaVu Sans"/>
                <a:cs typeface="DejaVu Sans"/>
              </a:defRPr>
            </a:defPPr>
          </a:lstStyle>
          <a:p xmlns:a="http://schemas.openxmlformats.org/drawingml/2006/main">
            <a:pPr>
              <a:defRPr sz="1200" b="0">
                <a:solidFill>
                  <a:srgbClr val="606878"/>
                </a:solidFill>
                <a:latin typeface="DejaVu Sans"/>
                <a:ea typeface="DejaVu Sans"/>
                <a:cs typeface="DejaVu Sans"/>
              </a:defRPr>
            </a:pPr>
            <a:r>
              <a:rPr sz="1200" b="0">
                <a:solidFill>
                  <a:srgbClr val="606878"/>
                </a:solidFill>
                <a:latin typeface="DejaVu Sans"/>
                <a:ea typeface="DejaVu Sans"/>
                <a:cs typeface="DejaVu Sans"/>
              </a:rPr>
              <a:t>03</a:t>
            </a:r>
          </a:p>
        </p:txBody>
      </p:sp>
      <p:sp>
        <p:nvSpPr>
          <p:cNvPr id="3" name="Register and sign in">
            <a:extLst xmlns:a="http://schemas.openxmlformats.org/drawingml/2006/main">
              <a:ext uri="{FF2B5EF4-FFF2-40B4-BE49-F238E27FC236}">
                <a16:creationId xmlns:a16="http://schemas.microsoft.com/office/drawing/2014/main" id="{7FA83027-CC5D-4523-B8A6-81D45924845D}"/>
              </a:ext>
            </a:extLst>
          </p:cNvPr>
          <p:cNvSpPr>
            <a:spLocks xmlns:a="http://schemas.openxmlformats.org/drawingml/2006/main" noGrp="1"/>
          </p:cNvSpPr>
          <p:nvPr/>
        </p:nvSpPr>
        <p:spPr>
          <a:xfrm xmlns:a="http://schemas.openxmlformats.org/drawingml/2006/main">
            <a:off x="609600" y="2047875"/>
            <a:ext cx="10334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62A54"/>
                </a:solidFill>
                <a:latin typeface="DejaVu Sans"/>
                <a:ea typeface="DejaVu Sans"/>
                <a:cs typeface="DejaVu Sans"/>
              </a:defRPr>
            </a:defPPr>
          </a:lstStyle>
          <a:p xmlns:a="http://schemas.openxmlformats.org/drawingml/2006/main">
            <a:pPr>
              <a:defRPr sz="2175" b="0">
                <a:solidFill>
                  <a:srgbClr val="262A54"/>
                </a:solidFill>
                <a:latin typeface="DejaVu Sans"/>
                <a:ea typeface="DejaVu Sans"/>
                <a:cs typeface="DejaVu Sans"/>
              </a:defRPr>
            </a:pPr>
            <a:r>
              <a:rPr sz="2175" b="0">
                <a:solidFill>
                  <a:srgbClr val="262A54"/>
                </a:solidFill>
                <a:latin typeface="DejaVu Sans"/>
                <a:ea typeface="DejaVu Sans"/>
                <a:cs typeface="DejaVu Sans"/>
              </a:rPr>
              <a:t>Register and sign in</a:t>
            </a:r>
          </a:p>
        </p:txBody>
      </p:sp>
      <p:sp>
        <p:nvSpPr>
          <p:cNvPr id="4" name="Create or find a study group">
            <a:extLst xmlns:a="http://schemas.openxmlformats.org/drawingml/2006/main">
              <a:ext uri="{FF2B5EF4-FFF2-40B4-BE49-F238E27FC236}">
                <a16:creationId xmlns:a16="http://schemas.microsoft.com/office/drawing/2014/main" id="{90A88163-DD76-4D67-9C07-DA8914EC3FFD}"/>
              </a:ext>
            </a:extLst>
          </p:cNvPr>
          <p:cNvSpPr>
            <a:spLocks xmlns:a="http://schemas.openxmlformats.org/drawingml/2006/main" noGrp="1"/>
          </p:cNvSpPr>
          <p:nvPr/>
        </p:nvSpPr>
        <p:spPr>
          <a:xfrm xmlns:a="http://schemas.openxmlformats.org/drawingml/2006/main">
            <a:off x="609600" y="2943225"/>
            <a:ext cx="10334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62A54"/>
                </a:solidFill>
                <a:latin typeface="DejaVu Sans"/>
                <a:ea typeface="DejaVu Sans"/>
                <a:cs typeface="DejaVu Sans"/>
              </a:defRPr>
            </a:defPPr>
          </a:lstStyle>
          <a:p xmlns:a="http://schemas.openxmlformats.org/drawingml/2006/main">
            <a:pPr>
              <a:defRPr sz="2175" b="0">
                <a:solidFill>
                  <a:srgbClr val="262A54"/>
                </a:solidFill>
                <a:latin typeface="DejaVu Sans"/>
                <a:ea typeface="DejaVu Sans"/>
                <a:cs typeface="DejaVu Sans"/>
              </a:defRPr>
            </a:pPr>
            <a:r>
              <a:rPr sz="2175" b="0">
                <a:solidFill>
                  <a:srgbClr val="262A54"/>
                </a:solidFill>
                <a:latin typeface="DejaVu Sans"/>
                <a:ea typeface="DejaVu Sans"/>
                <a:cs typeface="DejaVu Sans"/>
              </a:rPr>
              <a:t>Create or find a study group</a:t>
            </a:r>
          </a:p>
        </p:txBody>
      </p:sp>
      <p:sp>
        <p:nvSpPr>
          <p:cNvPr id="5" name="Apply, review compatibility, and make a decision">
            <a:extLst xmlns:a="http://schemas.openxmlformats.org/drawingml/2006/main">
              <a:ext uri="{FF2B5EF4-FFF2-40B4-BE49-F238E27FC236}">
                <a16:creationId xmlns:a16="http://schemas.microsoft.com/office/drawing/2014/main" id="{4A179BE8-164A-41A0-8F8F-412D59A118A0}"/>
              </a:ext>
            </a:extLst>
          </p:cNvPr>
          <p:cNvSpPr>
            <a:spLocks xmlns:a="http://schemas.openxmlformats.org/drawingml/2006/main" noGrp="1"/>
          </p:cNvSpPr>
          <p:nvPr/>
        </p:nvSpPr>
        <p:spPr>
          <a:xfrm xmlns:a="http://schemas.openxmlformats.org/drawingml/2006/main">
            <a:off x="609600" y="3838575"/>
            <a:ext cx="10334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62A54"/>
                </a:solidFill>
                <a:latin typeface="DejaVu Sans"/>
                <a:ea typeface="DejaVu Sans"/>
                <a:cs typeface="DejaVu Sans"/>
              </a:defRPr>
            </a:defPPr>
          </a:lstStyle>
          <a:p xmlns:a="http://schemas.openxmlformats.org/drawingml/2006/main">
            <a:pPr>
              <a:defRPr sz="2175" b="0">
                <a:solidFill>
                  <a:srgbClr val="262A54"/>
                </a:solidFill>
                <a:latin typeface="DejaVu Sans"/>
                <a:ea typeface="DejaVu Sans"/>
                <a:cs typeface="DejaVu Sans"/>
              </a:defRPr>
            </a:pPr>
            <a:r>
              <a:rPr sz="2175" b="0">
                <a:solidFill>
                  <a:srgbClr val="262A54"/>
                </a:solidFill>
                <a:latin typeface="DejaVu Sans"/>
                <a:ea typeface="DejaVu Sans"/>
                <a:cs typeface="DejaVu Sans"/>
              </a:rPr>
              <a:t>Apply, review compatibility, and make a decision</a:t>
            </a:r>
          </a:p>
        </p:txBody>
      </p:sp>
      <p:sp>
        <p:nvSpPr>
          <p:cNvPr id="6" name="Chat, ratings and monetization stay outside this version">
            <a:extLst xmlns:a="http://schemas.openxmlformats.org/drawingml/2006/main">
              <a:ext uri="{FF2B5EF4-FFF2-40B4-BE49-F238E27FC236}">
                <a16:creationId xmlns:a16="http://schemas.microsoft.com/office/drawing/2014/main" id="{6020F57A-5D2A-46FC-97A2-C7D80C391678}"/>
              </a:ext>
            </a:extLst>
          </p:cNvPr>
          <p:cNvSpPr>
            <a:spLocks xmlns:a="http://schemas.openxmlformats.org/drawingml/2006/main" noGrp="1"/>
          </p:cNvSpPr>
          <p:nvPr/>
        </p:nvSpPr>
        <p:spPr>
          <a:xfrm xmlns:a="http://schemas.openxmlformats.org/drawingml/2006/main">
            <a:off x="609600" y="4733925"/>
            <a:ext cx="10334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62A54"/>
                </a:solidFill>
                <a:latin typeface="DejaVu Sans"/>
                <a:ea typeface="DejaVu Sans"/>
                <a:cs typeface="DejaVu Sans"/>
              </a:defRPr>
            </a:defPPr>
          </a:lstStyle>
          <a:p xmlns:a="http://schemas.openxmlformats.org/drawingml/2006/main">
            <a:pPr>
              <a:defRPr sz="2175" b="0">
                <a:solidFill>
                  <a:srgbClr val="262A54"/>
                </a:solidFill>
                <a:latin typeface="DejaVu Sans"/>
                <a:ea typeface="DejaVu Sans"/>
                <a:cs typeface="DejaVu Sans"/>
              </a:defRPr>
            </a:pPr>
            <a:r>
              <a:rPr sz="2175" b="0">
                <a:solidFill>
                  <a:srgbClr val="262A54"/>
                </a:solidFill>
                <a:latin typeface="DejaVu Sans"/>
                <a:ea typeface="DejaVu Sans"/>
                <a:cs typeface="DejaVu Sans"/>
              </a:rPr>
              <a:t>Chat, ratings and monetization stay outside this version</a:t>
            </a:r>
          </a:p>
        </p:txBody>
      </p:sp>
    </p:spTree>
    <p:extLst>
      <p:ext uri="{BB962C8B-B14F-4D97-AF65-F5344CB8AC3E}">
        <p14:creationId xmlns:p14="http://schemas.microsoft.com/office/powerpoint/2010/main" val="20652232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quirements and priorities">
            <a:extLst xmlns:a="http://schemas.openxmlformats.org/drawingml/2006/main">
              <a:ext uri="{FF2B5EF4-FFF2-40B4-BE49-F238E27FC236}">
                <a16:creationId xmlns:a16="http://schemas.microsoft.com/office/drawing/2014/main" id="{AE27CC5C-CBD3-4702-9842-802763BF6613}"/>
              </a:ext>
            </a:extLst>
          </p:cNvPr>
          <p:cNvSpPr>
            <a:spLocks xmlns:a="http://schemas.openxmlformats.org/drawingml/2006/main" noGrp="1"/>
          </p:cNvSpPr>
          <p:nvPr/>
        </p:nvSpPr>
        <p:spPr>
          <a:xfrm xmlns:a="http://schemas.openxmlformats.org/drawingml/2006/main">
            <a:off x="609600" y="476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262A54"/>
                </a:solidFill>
                <a:latin typeface="DejaVu Sans"/>
                <a:ea typeface="DejaVu Sans"/>
                <a:cs typeface="DejaVu Sans"/>
              </a:defRPr>
            </a:defPPr>
          </a:lstStyle>
          <a:p xmlns:a="http://schemas.openxmlformats.org/drawingml/2006/main">
            <a:pPr>
              <a:defRPr sz="3225" b="1">
                <a:solidFill>
                  <a:srgbClr val="262A54"/>
                </a:solidFill>
                <a:latin typeface="DejaVu Sans"/>
                <a:ea typeface="DejaVu Sans"/>
                <a:cs typeface="DejaVu Sans"/>
              </a:defRPr>
            </a:pPr>
            <a:r>
              <a:rPr sz="3225" b="1">
                <a:solidFill>
                  <a:srgbClr val="262A54"/>
                </a:solidFill>
                <a:latin typeface="DejaVu Sans"/>
                <a:ea typeface="DejaVu Sans"/>
                <a:cs typeface="DejaVu Sans"/>
              </a:rPr>
              <a:t>Requirements and priorities</a:t>
            </a:r>
          </a:p>
        </p:txBody>
      </p:sp>
      <p:sp>
        <p:nvSpPr>
          <p:cNvPr id="2" name="04">
            <a:extLst xmlns:a="http://schemas.openxmlformats.org/drawingml/2006/main">
              <a:ext uri="{FF2B5EF4-FFF2-40B4-BE49-F238E27FC236}">
                <a16:creationId xmlns:a16="http://schemas.microsoft.com/office/drawing/2014/main" id="{998B231F-C066-4777-834E-308233089E37}"/>
              </a:ext>
            </a:extLst>
          </p:cNvPr>
          <p:cNvSpPr>
            <a:spLocks xmlns:a="http://schemas.openxmlformats.org/drawingml/2006/main" noGrp="1"/>
          </p:cNvSpPr>
          <p:nvPr/>
        </p:nvSpPr>
        <p:spPr>
          <a:xfrm xmlns:a="http://schemas.openxmlformats.org/drawingml/2006/main">
            <a:off x="11334750" y="6257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06878"/>
                </a:solidFill>
                <a:latin typeface="DejaVu Sans"/>
                <a:ea typeface="DejaVu Sans"/>
                <a:cs typeface="DejaVu Sans"/>
              </a:defRPr>
            </a:defPPr>
          </a:lstStyle>
          <a:p xmlns:a="http://schemas.openxmlformats.org/drawingml/2006/main">
            <a:pPr>
              <a:defRPr sz="1200" b="0">
                <a:solidFill>
                  <a:srgbClr val="606878"/>
                </a:solidFill>
                <a:latin typeface="DejaVu Sans"/>
                <a:ea typeface="DejaVu Sans"/>
                <a:cs typeface="DejaVu Sans"/>
              </a:defRPr>
            </a:pPr>
            <a:r>
              <a:rPr sz="1200" b="0">
                <a:solidFill>
                  <a:srgbClr val="606878"/>
                </a:solidFill>
                <a:latin typeface="DejaVu Sans"/>
                <a:ea typeface="DejaVu Sans"/>
                <a:cs typeface="DejaVu Sans"/>
              </a:rPr>
              <a:t>04</a:t>
            </a:r>
          </a:p>
        </p:txBody>
      </p:sp>
      <p:sp>
        <p:nvSpPr>
          <p:cNvPr id="3" name="18 user stories">
            <a:extLst xmlns:a="http://schemas.openxmlformats.org/drawingml/2006/main">
              <a:ext uri="{FF2B5EF4-FFF2-40B4-BE49-F238E27FC236}">
                <a16:creationId xmlns:a16="http://schemas.microsoft.com/office/drawing/2014/main" id="{4596DC8A-6D1E-4CE3-887C-28CB1A7A69B8}"/>
              </a:ext>
            </a:extLst>
          </p:cNvPr>
          <p:cNvSpPr>
            <a:spLocks xmlns:a="http://schemas.openxmlformats.org/drawingml/2006/main" noGrp="1"/>
          </p:cNvSpPr>
          <p:nvPr/>
        </p:nvSpPr>
        <p:spPr>
          <a:xfrm xmlns:a="http://schemas.openxmlformats.org/drawingml/2006/main">
            <a:off x="609600" y="18573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125" b="1">
                <a:solidFill>
                  <a:srgbClr val="262A54"/>
                </a:solidFill>
                <a:latin typeface="DejaVu Sans"/>
                <a:ea typeface="DejaVu Sans"/>
                <a:cs typeface="DejaVu Sans"/>
              </a:defRPr>
            </a:defPPr>
          </a:lstStyle>
          <a:p xmlns:a="http://schemas.openxmlformats.org/drawingml/2006/main">
            <a:pPr>
              <a:defRPr sz="4125" b="1">
                <a:solidFill>
                  <a:srgbClr val="262A54"/>
                </a:solidFill>
                <a:latin typeface="DejaVu Sans"/>
                <a:ea typeface="DejaVu Sans"/>
                <a:cs typeface="DejaVu Sans"/>
              </a:defRPr>
            </a:pPr>
            <a:r>
              <a:rPr sz="4125" b="1">
                <a:solidFill>
                  <a:srgbClr val="262A54"/>
                </a:solidFill>
                <a:latin typeface="DejaVu Sans"/>
                <a:ea typeface="DejaVu Sans"/>
                <a:cs typeface="DejaVu Sans"/>
              </a:rPr>
              <a:t>18 user stories</a:t>
            </a:r>
          </a:p>
        </p:txBody>
      </p:sp>
      <p:sp>
        <p:nvSpPr>
          <p:cNvPr id="4" name="4 epics and 29 acceptance scenarios">
            <a:extLst xmlns:a="http://schemas.openxmlformats.org/drawingml/2006/main">
              <a:ext uri="{FF2B5EF4-FFF2-40B4-BE49-F238E27FC236}">
                <a16:creationId xmlns:a16="http://schemas.microsoft.com/office/drawing/2014/main" id="{9129CCBF-095E-4AD5-8906-E87B44761411}"/>
              </a:ext>
            </a:extLst>
          </p:cNvPr>
          <p:cNvSpPr>
            <a:spLocks xmlns:a="http://schemas.openxmlformats.org/drawingml/2006/main" noGrp="1"/>
          </p:cNvSpPr>
          <p:nvPr/>
        </p:nvSpPr>
        <p:spPr>
          <a:xfrm xmlns:a="http://schemas.openxmlformats.org/drawingml/2006/main">
            <a:off x="609600" y="2724150"/>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606878"/>
                </a:solidFill>
                <a:latin typeface="DejaVu Sans"/>
                <a:ea typeface="DejaVu Sans"/>
                <a:cs typeface="DejaVu Sans"/>
              </a:defRPr>
            </a:defPPr>
          </a:lstStyle>
          <a:p xmlns:a="http://schemas.openxmlformats.org/drawingml/2006/main">
            <a:pPr>
              <a:defRPr sz="2100" b="0">
                <a:solidFill>
                  <a:srgbClr val="606878"/>
                </a:solidFill>
                <a:latin typeface="DejaVu Sans"/>
                <a:ea typeface="DejaVu Sans"/>
                <a:cs typeface="DejaVu Sans"/>
              </a:defRPr>
            </a:pPr>
            <a:r>
              <a:rPr sz="2100" b="0">
                <a:solidFill>
                  <a:srgbClr val="606878"/>
                </a:solidFill>
                <a:latin typeface="DejaVu Sans"/>
                <a:ea typeface="DejaVu Sans"/>
                <a:cs typeface="DejaVu Sans"/>
              </a:rPr>
              <a:t>4 epics and 29 acceptance scenarios</a:t>
            </a:r>
          </a:p>
        </p:txBody>
      </p:sp>
      <p:graphicFrame>
        <p:nvGraphicFramePr>
          <p:cNvPr id="5" name="">
            <a:extLst xmlns:a="http://schemas.openxmlformats.org/drawingml/2006/main">
              <a:ext uri="{FF2B5EF4-FFF2-40B4-BE49-F238E27FC236}">
                <a16:creationId xmlns:a16="http://schemas.microsoft.com/office/drawing/2014/main" id="{5CDB9E21-436C-41CD-ABE6-F7B1A735DD64}"/>
              </a:ext>
            </a:extLst>
          </p:cNvPr>
          <p:cNvGraphicFramePr/>
          <p:nvPr/>
        </p:nvGraphicFramePr>
        <p:xfrm>
          <a:off xmlns:a="http://schemas.openxmlformats.org/drawingml/2006/main" x="609600" y="3638550"/>
          <a:ext xmlns:a="http://schemas.openxmlformats.org/drawingml/2006/main" cx="10896600" cy="2076450"/>
        </p:xfrm>
        <a:graphic xmlns:a="http://schemas.openxmlformats.org/drawingml/2006/main">
          <a:graphicData uri="http://schemas.openxmlformats.org/drawingml/2006/table">
            <a:tbl>
              <a:tblPr/>
              <a:tblGrid>
                <a:gridCol w="2667000"/>
                <a:gridCol w="1809750"/>
                <a:gridCol w="6419850"/>
              </a:tblGrid>
              <a:tr h="519113">
                <a:tc>
                  <a:txBody>
                    <a:bodyPr lIns="114300" tIns="114300" rIns="114300" bIns="114300"/>
                    <a:lstStyle/>
                    <a:p>
                      <a:r>
                        <a:rPr sz="1800" b="1">
                          <a:solidFill>
                            <a:srgbClr val="FFFFFF"/>
                          </a:solidFill>
                          <a:latin typeface="DejaVu Sans"/>
                          <a:ea typeface="DejaVu Sans"/>
                          <a:cs typeface="DejaVu Sans"/>
                        </a:rPr>
                        <a:t>Priority</a:t>
                      </a:r>
                    </a:p>
                  </a:txBody>
                  <a:tcPr marL="91440" marR="91440" marT="45720" marB="45720">
                    <a:solidFill>
                      <a:srgbClr val="262A54"/>
                    </a:solidFill>
                  </a:tcPr>
                </a:tc>
                <a:tc>
                  <a:txBody>
                    <a:bodyPr lIns="114300" tIns="114300" rIns="114300" bIns="114300"/>
                    <a:lstStyle/>
                    <a:p>
                      <a:r>
                        <a:rPr sz="1800" b="1">
                          <a:solidFill>
                            <a:srgbClr val="FFFFFF"/>
                          </a:solidFill>
                          <a:latin typeface="DejaVu Sans"/>
                          <a:ea typeface="DejaVu Sans"/>
                          <a:cs typeface="DejaVu Sans"/>
                        </a:rPr>
                        <a:t>Count</a:t>
                      </a:r>
                    </a:p>
                  </a:txBody>
                  <a:tcPr marL="91440" marR="91440" marT="45720" marB="45720">
                    <a:solidFill>
                      <a:srgbClr val="262A54"/>
                    </a:solidFill>
                  </a:tcPr>
                </a:tc>
                <a:tc>
                  <a:txBody>
                    <a:bodyPr lIns="114300" tIns="114300" rIns="114300" bIns="114300"/>
                    <a:lstStyle/>
                    <a:p>
                      <a:r>
                        <a:rPr sz="1800" b="1">
                          <a:solidFill>
                            <a:srgbClr val="FFFFFF"/>
                          </a:solidFill>
                          <a:latin typeface="DejaVu Sans"/>
                          <a:ea typeface="DejaVu Sans"/>
                          <a:cs typeface="DejaVu Sans"/>
                        </a:rPr>
                        <a:t>Example</a:t>
                      </a:r>
                    </a:p>
                  </a:txBody>
                  <a:tcPr marL="91440" marR="91440" marT="45720" marB="45720">
                    <a:solidFill>
                      <a:srgbClr val="262A54"/>
                    </a:solidFill>
                  </a:tcPr>
                </a:tc>
              </a:tr>
              <a:tr h="519113">
                <a:tc>
                  <a:txBody>
                    <a:bodyPr lIns="114300" tIns="114300" rIns="114300" bIns="114300"/>
                    <a:lstStyle/>
                    <a:p>
                      <a:r>
                        <a:rPr sz="1800" b="0">
                          <a:solidFill>
                            <a:srgbClr val="262A54"/>
                          </a:solidFill>
                          <a:latin typeface="DejaVu Sans"/>
                          <a:ea typeface="DejaVu Sans"/>
                          <a:cs typeface="DejaVu Sans"/>
                        </a:rPr>
                        <a:t>Must</a:t>
                      </a:r>
                    </a:p>
                  </a:txBody>
                  <a:tcPr marL="91440" marR="91440" marT="45720" marB="45720">
                    <a:solidFill>
                      <a:srgbClr val="FFFFFF"/>
                    </a:solidFill>
                  </a:tcPr>
                </a:tc>
                <a:tc>
                  <a:txBody>
                    <a:bodyPr lIns="114300" tIns="114300" rIns="114300" bIns="114300"/>
                    <a:lstStyle/>
                    <a:p>
                      <a:r>
                        <a:rPr sz="1800" b="0">
                          <a:solidFill>
                            <a:srgbClr val="262A54"/>
                          </a:solidFill>
                          <a:latin typeface="DejaVu Sans"/>
                          <a:ea typeface="DejaVu Sans"/>
                          <a:cs typeface="DejaVu Sans"/>
                        </a:rPr>
                        <a:t>11</a:t>
                      </a:r>
                    </a:p>
                  </a:txBody>
                  <a:tcPr marL="91440" marR="91440" marT="45720" marB="45720">
                    <a:solidFill>
                      <a:srgbClr val="FFFFFF"/>
                    </a:solidFill>
                  </a:tcPr>
                </a:tc>
                <a:tc>
                  <a:txBody>
                    <a:bodyPr lIns="114300" tIns="114300" rIns="114300" bIns="114300"/>
                    <a:lstStyle/>
                    <a:p>
                      <a:r>
                        <a:rPr sz="1800" b="0">
                          <a:solidFill>
                            <a:srgbClr val="262A54"/>
                          </a:solidFill>
                          <a:latin typeface="DejaVu Sans"/>
                          <a:ea typeface="DejaVu Sans"/>
                          <a:cs typeface="DejaVu Sans"/>
                        </a:rPr>
                        <a:t>Create a group</a:t>
                      </a:r>
                    </a:p>
                  </a:txBody>
                  <a:tcPr marL="91440" marR="91440" marT="45720" marB="45720">
                    <a:solidFill>
                      <a:srgbClr val="FFFFFF"/>
                    </a:solidFill>
                  </a:tcPr>
                </a:tc>
              </a:tr>
              <a:tr h="519113">
                <a:tc>
                  <a:txBody>
                    <a:bodyPr lIns="114300" tIns="114300" rIns="114300" bIns="114300"/>
                    <a:lstStyle/>
                    <a:p>
                      <a:r>
                        <a:rPr sz="1800" b="0">
                          <a:solidFill>
                            <a:srgbClr val="262A54"/>
                          </a:solidFill>
                          <a:latin typeface="DejaVu Sans"/>
                          <a:ea typeface="DejaVu Sans"/>
                          <a:cs typeface="DejaVu Sans"/>
                        </a:rPr>
                        <a:t>Should</a:t>
                      </a:r>
                    </a:p>
                  </a:txBody>
                  <a:tcPr marL="91440" marR="91440" marT="45720" marB="45720">
                    <a:solidFill>
                      <a:srgbClr val="F0F3F7"/>
                    </a:solidFill>
                  </a:tcPr>
                </a:tc>
                <a:tc>
                  <a:txBody>
                    <a:bodyPr lIns="114300" tIns="114300" rIns="114300" bIns="114300"/>
                    <a:lstStyle/>
                    <a:p>
                      <a:r>
                        <a:rPr sz="1800" b="0">
                          <a:solidFill>
                            <a:srgbClr val="262A54"/>
                          </a:solidFill>
                          <a:latin typeface="DejaVu Sans"/>
                          <a:ea typeface="DejaVu Sans"/>
                          <a:cs typeface="DejaVu Sans"/>
                        </a:rPr>
                        <a:t>6</a:t>
                      </a:r>
                    </a:p>
                  </a:txBody>
                  <a:tcPr marL="91440" marR="91440" marT="45720" marB="45720">
                    <a:solidFill>
                      <a:srgbClr val="F0F3F7"/>
                    </a:solidFill>
                  </a:tcPr>
                </a:tc>
                <a:tc>
                  <a:txBody>
                    <a:bodyPr lIns="114300" tIns="114300" rIns="114300" bIns="114300"/>
                    <a:lstStyle/>
                    <a:p>
                      <a:r>
                        <a:rPr sz="1800" b="0">
                          <a:solidFill>
                            <a:srgbClr val="262A54"/>
                          </a:solidFill>
                          <a:latin typeface="DejaVu Sans"/>
                          <a:ea typeface="DejaVu Sans"/>
                          <a:cs typeface="DejaVu Sans"/>
                        </a:rPr>
                        <a:t>Filter by subject</a:t>
                      </a:r>
                    </a:p>
                  </a:txBody>
                  <a:tcPr marL="91440" marR="91440" marT="45720" marB="45720">
                    <a:solidFill>
                      <a:srgbClr val="F0F3F7"/>
                    </a:solidFill>
                  </a:tcPr>
                </a:tc>
              </a:tr>
              <a:tr h="519113">
                <a:tc>
                  <a:txBody>
                    <a:bodyPr lIns="114300" tIns="114300" rIns="114300" bIns="114300"/>
                    <a:lstStyle/>
                    <a:p>
                      <a:r>
                        <a:rPr sz="1800" b="0">
                          <a:solidFill>
                            <a:srgbClr val="262A54"/>
                          </a:solidFill>
                          <a:latin typeface="DejaVu Sans"/>
                          <a:ea typeface="DejaVu Sans"/>
                          <a:cs typeface="DejaVu Sans"/>
                        </a:rPr>
                        <a:t>Could</a:t>
                      </a:r>
                    </a:p>
                  </a:txBody>
                  <a:tcPr marL="91440" marR="91440" marT="45720" marB="45720">
                    <a:solidFill>
                      <a:srgbClr val="FFFFFF"/>
                    </a:solidFill>
                  </a:tcPr>
                </a:tc>
                <a:tc>
                  <a:txBody>
                    <a:bodyPr lIns="114300" tIns="114300" rIns="114300" bIns="114300"/>
                    <a:lstStyle/>
                    <a:p>
                      <a:r>
                        <a:rPr sz="1800" b="0">
                          <a:solidFill>
                            <a:srgbClr val="262A54"/>
                          </a:solidFill>
                          <a:latin typeface="DejaVu Sans"/>
                          <a:ea typeface="DejaVu Sans"/>
                          <a:cs typeface="DejaVu Sans"/>
                        </a:rPr>
                        <a:t>1</a:t>
                      </a:r>
                    </a:p>
                  </a:txBody>
                  <a:tcPr marL="91440" marR="91440" marT="45720" marB="45720">
                    <a:solidFill>
                      <a:srgbClr val="FFFFFF"/>
                    </a:solidFill>
                  </a:tcPr>
                </a:tc>
                <a:tc>
                  <a:txBody>
                    <a:bodyPr lIns="114300" tIns="114300" rIns="114300" bIns="114300"/>
                    <a:lstStyle/>
                    <a:p>
                      <a:r>
                        <a:rPr sz="1800" b="0">
                          <a:solidFill>
                            <a:srgbClr val="262A54"/>
                          </a:solidFill>
                          <a:latin typeface="DejaVu Sans"/>
                          <a:ea typeface="DejaVu Sans"/>
                          <a:cs typeface="DejaVu Sans"/>
                        </a:rPr>
                        <a:t>Edit saved preferences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295534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cceptance criteria">
            <a:extLst xmlns:a="http://schemas.openxmlformats.org/drawingml/2006/main">
              <a:ext uri="{FF2B5EF4-FFF2-40B4-BE49-F238E27FC236}">
                <a16:creationId xmlns:a16="http://schemas.microsoft.com/office/drawing/2014/main" id="{83BD212C-7850-47BF-A148-E369C9EE39B2}"/>
              </a:ext>
            </a:extLst>
          </p:cNvPr>
          <p:cNvSpPr>
            <a:spLocks xmlns:a="http://schemas.openxmlformats.org/drawingml/2006/main" noGrp="1"/>
          </p:cNvSpPr>
          <p:nvPr/>
        </p:nvSpPr>
        <p:spPr>
          <a:xfrm xmlns:a="http://schemas.openxmlformats.org/drawingml/2006/main">
            <a:off x="609600" y="476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262A54"/>
                </a:solidFill>
                <a:latin typeface="DejaVu Sans"/>
                <a:ea typeface="DejaVu Sans"/>
                <a:cs typeface="DejaVu Sans"/>
              </a:defRPr>
            </a:defPPr>
          </a:lstStyle>
          <a:p xmlns:a="http://schemas.openxmlformats.org/drawingml/2006/main">
            <a:pPr>
              <a:defRPr sz="3225" b="1">
                <a:solidFill>
                  <a:srgbClr val="262A54"/>
                </a:solidFill>
                <a:latin typeface="DejaVu Sans"/>
                <a:ea typeface="DejaVu Sans"/>
                <a:cs typeface="DejaVu Sans"/>
              </a:defRPr>
            </a:pPr>
            <a:r>
              <a:rPr sz="3225" b="1">
                <a:solidFill>
                  <a:srgbClr val="262A54"/>
                </a:solidFill>
                <a:latin typeface="DejaVu Sans"/>
                <a:ea typeface="DejaVu Sans"/>
                <a:cs typeface="DejaVu Sans"/>
              </a:rPr>
              <a:t>Acceptance criteria</a:t>
            </a:r>
          </a:p>
        </p:txBody>
      </p:sp>
      <p:sp>
        <p:nvSpPr>
          <p:cNvPr id="2" name="05">
            <a:extLst xmlns:a="http://schemas.openxmlformats.org/drawingml/2006/main">
              <a:ext uri="{FF2B5EF4-FFF2-40B4-BE49-F238E27FC236}">
                <a16:creationId xmlns:a16="http://schemas.microsoft.com/office/drawing/2014/main" id="{9BE8B030-398A-4E16-A85B-D4419E6B8664}"/>
              </a:ext>
            </a:extLst>
          </p:cNvPr>
          <p:cNvSpPr>
            <a:spLocks xmlns:a="http://schemas.openxmlformats.org/drawingml/2006/main" noGrp="1"/>
          </p:cNvSpPr>
          <p:nvPr/>
        </p:nvSpPr>
        <p:spPr>
          <a:xfrm xmlns:a="http://schemas.openxmlformats.org/drawingml/2006/main">
            <a:off x="11334750" y="6257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06878"/>
                </a:solidFill>
                <a:latin typeface="DejaVu Sans"/>
                <a:ea typeface="DejaVu Sans"/>
                <a:cs typeface="DejaVu Sans"/>
              </a:defRPr>
            </a:defPPr>
          </a:lstStyle>
          <a:p xmlns:a="http://schemas.openxmlformats.org/drawingml/2006/main">
            <a:pPr>
              <a:defRPr sz="1200" b="0">
                <a:solidFill>
                  <a:srgbClr val="606878"/>
                </a:solidFill>
                <a:latin typeface="DejaVu Sans"/>
                <a:ea typeface="DejaVu Sans"/>
                <a:cs typeface="DejaVu Sans"/>
              </a:defRPr>
            </a:pPr>
            <a:r>
              <a:rPr sz="1200" b="0">
                <a:solidFill>
                  <a:srgbClr val="606878"/>
                </a:solidFill>
                <a:latin typeface="DejaVu Sans"/>
                <a:ea typeface="DejaVu Sans"/>
                <a:cs typeface="DejaVu Sans"/>
              </a:rPr>
              <a:t>05</a:t>
            </a:r>
          </a:p>
        </p:txBody>
      </p:sp>
      <p:sp>
        <p:nvSpPr>
          <p:cNvPr id="3" name="A valid request creates one Pending record">
            <a:extLst xmlns:a="http://schemas.openxmlformats.org/drawingml/2006/main">
              <a:ext uri="{FF2B5EF4-FFF2-40B4-BE49-F238E27FC236}">
                <a16:creationId xmlns:a16="http://schemas.microsoft.com/office/drawing/2014/main" id="{FDF7B988-9015-4013-80AA-2DB9F5F0487D}"/>
              </a:ext>
            </a:extLst>
          </p:cNvPr>
          <p:cNvSpPr>
            <a:spLocks xmlns:a="http://schemas.openxmlformats.org/drawingml/2006/main" noGrp="1"/>
          </p:cNvSpPr>
          <p:nvPr/>
        </p:nvSpPr>
        <p:spPr>
          <a:xfrm xmlns:a="http://schemas.openxmlformats.org/drawingml/2006/main">
            <a:off x="609600" y="17526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62A54"/>
                </a:solidFill>
                <a:latin typeface="DejaVu Sans"/>
                <a:ea typeface="DejaVu Sans"/>
                <a:cs typeface="DejaVu Sans"/>
              </a:defRPr>
            </a:defPPr>
          </a:lstStyle>
          <a:p xmlns:a="http://schemas.openxmlformats.org/drawingml/2006/main">
            <a:pPr>
              <a:defRPr sz="2325" b="1">
                <a:solidFill>
                  <a:srgbClr val="262A54"/>
                </a:solidFill>
                <a:latin typeface="DejaVu Sans"/>
                <a:ea typeface="DejaVu Sans"/>
                <a:cs typeface="DejaVu Sans"/>
              </a:defRPr>
            </a:pPr>
            <a:r>
              <a:rPr sz="2325" b="1">
                <a:solidFill>
                  <a:srgbClr val="262A54"/>
                </a:solidFill>
                <a:latin typeface="DejaVu Sans"/>
                <a:ea typeface="DejaVu Sans"/>
                <a:cs typeface="DejaVu Sans"/>
              </a:rPr>
              <a:t>A valid request creates one Pending record</a:t>
            </a:r>
          </a:p>
        </p:txBody>
      </p:sp>
      <p:sp>
        <p:nvSpPr>
          <p:cNvPr id="4" name="A repeated submission creates no duplicate Pending request">
            <a:extLst xmlns:a="http://schemas.openxmlformats.org/drawingml/2006/main">
              <a:ext uri="{FF2B5EF4-FFF2-40B4-BE49-F238E27FC236}">
                <a16:creationId xmlns:a16="http://schemas.microsoft.com/office/drawing/2014/main" id="{FA73590C-9DE8-48CC-87E6-B0E2C4DC82E4}"/>
              </a:ext>
            </a:extLst>
          </p:cNvPr>
          <p:cNvSpPr>
            <a:spLocks xmlns:a="http://schemas.openxmlformats.org/drawingml/2006/main" noGrp="1"/>
          </p:cNvSpPr>
          <p:nvPr/>
        </p:nvSpPr>
        <p:spPr>
          <a:xfrm xmlns:a="http://schemas.openxmlformats.org/drawingml/2006/main">
            <a:off x="609600" y="232410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62A54"/>
                </a:solidFill>
                <a:latin typeface="DejaVu Sans"/>
                <a:ea typeface="DejaVu Sans"/>
                <a:cs typeface="DejaVu Sans"/>
              </a:defRPr>
            </a:defPPr>
          </a:lstStyle>
          <a:p xmlns:a="http://schemas.openxmlformats.org/drawingml/2006/main">
            <a:pPr>
              <a:defRPr sz="2025" b="0">
                <a:solidFill>
                  <a:srgbClr val="262A54"/>
                </a:solidFill>
                <a:latin typeface="DejaVu Sans"/>
                <a:ea typeface="DejaVu Sans"/>
                <a:cs typeface="DejaVu Sans"/>
              </a:defRPr>
            </a:pPr>
            <a:r>
              <a:rPr sz="2025" b="0">
                <a:solidFill>
                  <a:srgbClr val="262A54"/>
                </a:solidFill>
                <a:latin typeface="DejaVu Sans"/>
                <a:ea typeface="DejaVu Sans"/>
                <a:cs typeface="DejaVu Sans"/>
              </a:rPr>
              <a:t>A repeated submission creates no duplicate Pending request</a:t>
            </a:r>
          </a:p>
        </p:txBody>
      </p:sp>
      <p:graphicFrame>
        <p:nvGraphicFramePr>
          <p:cNvPr id="5" name="">
            <a:extLst xmlns:a="http://schemas.openxmlformats.org/drawingml/2006/main">
              <a:ext uri="{FF2B5EF4-FFF2-40B4-BE49-F238E27FC236}">
                <a16:creationId xmlns:a16="http://schemas.microsoft.com/office/drawing/2014/main" id="{D8EC95E1-21BD-4A6F-A2C7-9CC8FF0AE708}"/>
              </a:ext>
            </a:extLst>
          </p:cNvPr>
          <p:cNvGraphicFramePr/>
          <p:nvPr/>
        </p:nvGraphicFramePr>
        <p:xfrm>
          <a:off xmlns:a="http://schemas.openxmlformats.org/drawingml/2006/main" x="609600" y="3533775"/>
          <a:ext xmlns:a="http://schemas.openxmlformats.org/drawingml/2006/main" cx="10896600" cy="2047875"/>
        </p:xfrm>
        <a:graphic xmlns:a="http://schemas.openxmlformats.org/drawingml/2006/main">
          <a:graphicData uri="http://schemas.openxmlformats.org/drawingml/2006/table">
            <a:tbl>
              <a:tblPr/>
              <a:tblGrid>
                <a:gridCol w="2857500"/>
                <a:gridCol w="8039100"/>
              </a:tblGrid>
              <a:tr h="682625">
                <a:tc>
                  <a:txBody>
                    <a:bodyPr lIns="114300" tIns="114300" rIns="114300" bIns="114300"/>
                    <a:lstStyle/>
                    <a:p>
                      <a:r>
                        <a:rPr sz="1800" b="1">
                          <a:solidFill>
                            <a:srgbClr val="FFFFFF"/>
                          </a:solidFill>
                          <a:latin typeface="DejaVu Sans"/>
                          <a:ea typeface="DejaVu Sans"/>
                          <a:cs typeface="DejaVu Sans"/>
                        </a:rPr>
                        <a:t>Requirement</a:t>
                      </a:r>
                    </a:p>
                  </a:txBody>
                  <a:tcPr marL="91440" marR="91440" marT="45720" marB="45720">
                    <a:solidFill>
                      <a:srgbClr val="262A54"/>
                    </a:solidFill>
                  </a:tcPr>
                </a:tc>
                <a:tc>
                  <a:txBody>
                    <a:bodyPr lIns="114300" tIns="114300" rIns="114300" bIns="114300"/>
                    <a:lstStyle/>
                    <a:p>
                      <a:r>
                        <a:rPr sz="1800" b="1">
                          <a:solidFill>
                            <a:srgbClr val="FFFFFF"/>
                          </a:solidFill>
                          <a:latin typeface="DejaVu Sans"/>
                          <a:ea typeface="DejaVu Sans"/>
                          <a:cs typeface="DejaVu Sans"/>
                        </a:rPr>
                        <a:t>Acceptance target</a:t>
                      </a:r>
                    </a:p>
                  </a:txBody>
                  <a:tcPr marL="91440" marR="91440" marT="45720" marB="45720">
                    <a:solidFill>
                      <a:srgbClr val="262A54"/>
                    </a:solidFill>
                  </a:tcPr>
                </a:tc>
              </a:tr>
              <a:tr h="682625">
                <a:tc>
                  <a:txBody>
                    <a:bodyPr lIns="114300" tIns="114300" rIns="114300" bIns="114300"/>
                    <a:lstStyle/>
                    <a:p>
                      <a:r>
                        <a:rPr sz="1800" b="0">
                          <a:solidFill>
                            <a:srgbClr val="262A54"/>
                          </a:solidFill>
                          <a:latin typeface="DejaVu Sans"/>
                          <a:ea typeface="DejaVu Sans"/>
                          <a:cs typeface="DejaVu Sans"/>
                        </a:rPr>
                        <a:t>Performance</a:t>
                      </a:r>
                    </a:p>
                  </a:txBody>
                  <a:tcPr marL="91440" marR="91440" marT="45720" marB="45720">
                    <a:solidFill>
                      <a:srgbClr val="FFFFFF"/>
                    </a:solidFill>
                  </a:tcPr>
                </a:tc>
                <a:tc>
                  <a:txBody>
                    <a:bodyPr lIns="114300" tIns="114300" rIns="114300" bIns="114300"/>
                    <a:lstStyle/>
                    <a:p>
                      <a:r>
                        <a:rPr sz="1800" b="0">
                          <a:solidFill>
                            <a:srgbClr val="262A54"/>
                          </a:solidFill>
                          <a:latin typeface="DejaVu Sans"/>
                          <a:ea typeface="DejaVu Sans"/>
                          <a:cs typeface="DejaVu Sans"/>
                        </a:rPr>
                        <a:t>95% within 2 seconds · 100 users · 1,000 groups</a:t>
                      </a:r>
                    </a:p>
                  </a:txBody>
                  <a:tcPr marL="91440" marR="91440" marT="45720" marB="45720">
                    <a:solidFill>
                      <a:srgbClr val="FFFFFF"/>
                    </a:solidFill>
                  </a:tcPr>
                </a:tc>
              </a:tr>
              <a:tr h="682625">
                <a:tc>
                  <a:txBody>
                    <a:bodyPr lIns="114300" tIns="114300" rIns="114300" bIns="114300"/>
                    <a:lstStyle/>
                    <a:p>
                      <a:r>
                        <a:rPr sz="1800" b="0">
                          <a:solidFill>
                            <a:srgbClr val="262A54"/>
                          </a:solidFill>
                          <a:latin typeface="DejaVu Sans"/>
                          <a:ea typeface="DejaVu Sans"/>
                          <a:cs typeface="DejaVu Sans"/>
                        </a:rPr>
                        <a:t>Usability</a:t>
                      </a:r>
                    </a:p>
                  </a:txBody>
                  <a:tcPr marL="91440" marR="91440" marT="45720" marB="45720">
                    <a:solidFill>
                      <a:srgbClr val="F0F3F7"/>
                    </a:solidFill>
                  </a:tcPr>
                </a:tc>
                <a:tc>
                  <a:txBody>
                    <a:bodyPr lIns="114300" tIns="114300" rIns="114300" bIns="114300"/>
                    <a:lstStyle/>
                    <a:p>
                      <a:r>
                        <a:rPr sz="1800" b="0">
                          <a:solidFill>
                            <a:srgbClr val="262A54"/>
                          </a:solidFill>
                          <a:latin typeface="DejaVu Sans"/>
                          <a:ea typeface="DejaVu Sans"/>
                          <a:cs typeface="DejaVu Sans"/>
                        </a:rPr>
                        <a:t>4 of 5 new students apply within 2 minutes</a:t>
                      </a:r>
                    </a:p>
                  </a:txBody>
                  <a:tcPr marL="91440" marR="91440" marT="45720" marB="45720">
                    <a:solidFill>
                      <a:srgbClr val="F0F3F7"/>
                    </a:solidFill>
                  </a:tcPr>
                </a:tc>
              </a:tr>
            </a:tbl>
          </a:graphicData>
        </a:graphic>
      </p:graphicFrame>
      <p:sp>
        <p:nvSpPr>
          <p:cNvPr id="6" name="Targets for future testing">
            <a:extLst xmlns:a="http://schemas.openxmlformats.org/drawingml/2006/main">
              <a:ext uri="{FF2B5EF4-FFF2-40B4-BE49-F238E27FC236}">
                <a16:creationId xmlns:a16="http://schemas.microsoft.com/office/drawing/2014/main" id="{55DE5BBA-CA03-4A15-90AA-98C5F707F7B6}"/>
              </a:ext>
            </a:extLst>
          </p:cNvPr>
          <p:cNvSpPr>
            <a:spLocks xmlns:a="http://schemas.openxmlformats.org/drawingml/2006/main" noGrp="1"/>
          </p:cNvSpPr>
          <p:nvPr/>
        </p:nvSpPr>
        <p:spPr>
          <a:xfrm xmlns:a="http://schemas.openxmlformats.org/drawingml/2006/main">
            <a:off x="609600" y="58388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606878"/>
                </a:solidFill>
                <a:latin typeface="DejaVu Sans"/>
                <a:ea typeface="DejaVu Sans"/>
                <a:cs typeface="DejaVu Sans"/>
              </a:defRPr>
            </a:defPPr>
          </a:lstStyle>
          <a:p xmlns:a="http://schemas.openxmlformats.org/drawingml/2006/main">
            <a:pPr>
              <a:defRPr sz="1500" b="0">
                <a:solidFill>
                  <a:srgbClr val="606878"/>
                </a:solidFill>
                <a:latin typeface="DejaVu Sans"/>
                <a:ea typeface="DejaVu Sans"/>
                <a:cs typeface="DejaVu Sans"/>
              </a:defRPr>
            </a:pPr>
            <a:r>
              <a:rPr sz="1500" b="0">
                <a:solidFill>
                  <a:srgbClr val="606878"/>
                </a:solidFill>
                <a:latin typeface="DejaVu Sans"/>
                <a:ea typeface="DejaVu Sans"/>
                <a:cs typeface="DejaVu Sans"/>
              </a:rPr>
              <a:t>Targets for future testing</a:t>
            </a:r>
          </a:p>
        </p:txBody>
      </p:sp>
    </p:spTree>
    <p:extLst>
      <p:ext uri="{BB962C8B-B14F-4D97-AF65-F5344CB8AC3E}">
        <p14:creationId xmlns:p14="http://schemas.microsoft.com/office/powerpoint/2010/main" val="9777473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he interface journey">
            <a:extLst xmlns:a="http://schemas.openxmlformats.org/drawingml/2006/main">
              <a:ext uri="{FF2B5EF4-FFF2-40B4-BE49-F238E27FC236}">
                <a16:creationId xmlns:a16="http://schemas.microsoft.com/office/drawing/2014/main" id="{0DA097FB-54B6-486D-9198-05F4D216FCD7}"/>
              </a:ext>
            </a:extLst>
          </p:cNvPr>
          <p:cNvSpPr>
            <a:spLocks xmlns:a="http://schemas.openxmlformats.org/drawingml/2006/main" noGrp="1"/>
          </p:cNvSpPr>
          <p:nvPr/>
        </p:nvSpPr>
        <p:spPr>
          <a:xfrm xmlns:a="http://schemas.openxmlformats.org/drawingml/2006/main">
            <a:off x="609600" y="476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262A54"/>
                </a:solidFill>
                <a:latin typeface="DejaVu Sans"/>
                <a:ea typeface="DejaVu Sans"/>
                <a:cs typeface="DejaVu Sans"/>
              </a:defRPr>
            </a:defPPr>
          </a:lstStyle>
          <a:p xmlns:a="http://schemas.openxmlformats.org/drawingml/2006/main">
            <a:pPr>
              <a:defRPr sz="3225" b="1">
                <a:solidFill>
                  <a:srgbClr val="262A54"/>
                </a:solidFill>
                <a:latin typeface="DejaVu Sans"/>
                <a:ea typeface="DejaVu Sans"/>
                <a:cs typeface="DejaVu Sans"/>
              </a:defRPr>
            </a:pPr>
            <a:r>
              <a:rPr sz="3225" b="1">
                <a:solidFill>
                  <a:srgbClr val="262A54"/>
                </a:solidFill>
                <a:latin typeface="DejaVu Sans"/>
                <a:ea typeface="DejaVu Sans"/>
                <a:cs typeface="DejaVu Sans"/>
              </a:rPr>
              <a:t>The interface journey</a:t>
            </a:r>
          </a:p>
        </p:txBody>
      </p:sp>
      <p:sp>
        <p:nvSpPr>
          <p:cNvPr id="2" name="06">
            <a:extLst xmlns:a="http://schemas.openxmlformats.org/drawingml/2006/main">
              <a:ext uri="{FF2B5EF4-FFF2-40B4-BE49-F238E27FC236}">
                <a16:creationId xmlns:a16="http://schemas.microsoft.com/office/drawing/2014/main" id="{71822EAA-EAE8-4F70-9AA1-334F7992F212}"/>
              </a:ext>
            </a:extLst>
          </p:cNvPr>
          <p:cNvSpPr>
            <a:spLocks xmlns:a="http://schemas.openxmlformats.org/drawingml/2006/main" noGrp="1"/>
          </p:cNvSpPr>
          <p:nvPr/>
        </p:nvSpPr>
        <p:spPr>
          <a:xfrm xmlns:a="http://schemas.openxmlformats.org/drawingml/2006/main">
            <a:off x="11334750" y="6257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06878"/>
                </a:solidFill>
                <a:latin typeface="DejaVu Sans"/>
                <a:ea typeface="DejaVu Sans"/>
                <a:cs typeface="DejaVu Sans"/>
              </a:defRPr>
            </a:defPPr>
          </a:lstStyle>
          <a:p xmlns:a="http://schemas.openxmlformats.org/drawingml/2006/main">
            <a:pPr>
              <a:defRPr sz="1200" b="0">
                <a:solidFill>
                  <a:srgbClr val="606878"/>
                </a:solidFill>
                <a:latin typeface="DejaVu Sans"/>
                <a:ea typeface="DejaVu Sans"/>
                <a:cs typeface="DejaVu Sans"/>
              </a:defRPr>
            </a:pPr>
            <a:r>
              <a:rPr sz="1200" b="0">
                <a:solidFill>
                  <a:srgbClr val="606878"/>
                </a:solidFill>
                <a:latin typeface="DejaVu Sans"/>
                <a:ea typeface="DejaVu Sans"/>
                <a:cs typeface="DejaVu Sans"/>
              </a:rPr>
              <a:t>06</a:t>
            </a:r>
          </a:p>
        </p:txBody>
      </p:sp>
      <p:sp>
        <p:nvSpPr>
          <p:cNvPr id="3" name="Applicant">
            <a:extLst xmlns:a="http://schemas.openxmlformats.org/drawingml/2006/main">
              <a:ext uri="{FF2B5EF4-FFF2-40B4-BE49-F238E27FC236}">
                <a16:creationId xmlns:a16="http://schemas.microsoft.com/office/drawing/2014/main" id="{14781AA4-E8C0-48B9-88C3-7B4BE4193C4A}"/>
              </a:ext>
            </a:extLst>
          </p:cNvPr>
          <p:cNvSpPr>
            <a:spLocks xmlns:a="http://schemas.openxmlformats.org/drawingml/2006/main" noGrp="1"/>
          </p:cNvSpPr>
          <p:nvPr/>
        </p:nvSpPr>
        <p:spPr>
          <a:xfrm xmlns:a="http://schemas.openxmlformats.org/drawingml/2006/main">
            <a:off x="609600" y="19526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62A54"/>
                </a:solidFill>
                <a:latin typeface="DejaVu Sans"/>
                <a:ea typeface="DejaVu Sans"/>
                <a:cs typeface="DejaVu Sans"/>
              </a:defRPr>
            </a:defPPr>
          </a:lstStyle>
          <a:p xmlns:a="http://schemas.openxmlformats.org/drawingml/2006/main">
            <a:pPr>
              <a:defRPr sz="2325" b="1">
                <a:solidFill>
                  <a:srgbClr val="262A54"/>
                </a:solidFill>
                <a:latin typeface="DejaVu Sans"/>
                <a:ea typeface="DejaVu Sans"/>
                <a:cs typeface="DejaVu Sans"/>
              </a:defRPr>
            </a:pPr>
            <a:r>
              <a:rPr sz="2325" b="1">
                <a:solidFill>
                  <a:srgbClr val="262A54"/>
                </a:solidFill>
                <a:latin typeface="DejaVu Sans"/>
                <a:ea typeface="DejaVu Sans"/>
                <a:cs typeface="DejaVu Sans"/>
              </a:rPr>
              <a:t>Applicant</a:t>
            </a:r>
          </a:p>
        </p:txBody>
      </p:sp>
      <p:sp>
        <p:nvSpPr>
          <p:cNvPr id="4" name="Browse groups, read details, answer questions and submit">
            <a:extLst xmlns:a="http://schemas.openxmlformats.org/drawingml/2006/main">
              <a:ext uri="{FF2B5EF4-FFF2-40B4-BE49-F238E27FC236}">
                <a16:creationId xmlns:a16="http://schemas.microsoft.com/office/drawing/2014/main" id="{28817B5B-C338-4AF9-B22E-4AA1523D6A2F}"/>
              </a:ext>
            </a:extLst>
          </p:cNvPr>
          <p:cNvSpPr>
            <a:spLocks xmlns:a="http://schemas.openxmlformats.org/drawingml/2006/main" noGrp="1"/>
          </p:cNvSpPr>
          <p:nvPr/>
        </p:nvSpPr>
        <p:spPr>
          <a:xfrm xmlns:a="http://schemas.openxmlformats.org/drawingml/2006/main">
            <a:off x="609600" y="25527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62A54"/>
                </a:solidFill>
                <a:latin typeface="DejaVu Sans"/>
                <a:ea typeface="DejaVu Sans"/>
                <a:cs typeface="DejaVu Sans"/>
              </a:defRPr>
            </a:defPPr>
          </a:lstStyle>
          <a:p xmlns:a="http://schemas.openxmlformats.org/drawingml/2006/main">
            <a:pPr>
              <a:defRPr sz="2100" b="0">
                <a:solidFill>
                  <a:srgbClr val="262A54"/>
                </a:solidFill>
                <a:latin typeface="DejaVu Sans"/>
                <a:ea typeface="DejaVu Sans"/>
                <a:cs typeface="DejaVu Sans"/>
              </a:defRPr>
            </a:pPr>
            <a:r>
              <a:rPr sz="2100" b="0">
                <a:solidFill>
                  <a:srgbClr val="262A54"/>
                </a:solidFill>
                <a:latin typeface="DejaVu Sans"/>
                <a:ea typeface="DejaVu Sans"/>
                <a:cs typeface="DejaVu Sans"/>
              </a:rPr>
              <a:t>Browse groups, read details, answer questions and submit</a:t>
            </a:r>
          </a:p>
        </p:txBody>
      </p:sp>
      <p:sp>
        <p:nvSpPr>
          <p:cNvPr id="5" name="Organizer">
            <a:extLst xmlns:a="http://schemas.openxmlformats.org/drawingml/2006/main">
              <a:ext uri="{FF2B5EF4-FFF2-40B4-BE49-F238E27FC236}">
                <a16:creationId xmlns:a16="http://schemas.microsoft.com/office/drawing/2014/main" id="{532AE777-8A0E-468C-85D4-71D1D3551CEE}"/>
              </a:ext>
            </a:extLst>
          </p:cNvPr>
          <p:cNvSpPr>
            <a:spLocks xmlns:a="http://schemas.openxmlformats.org/drawingml/2006/main" noGrp="1"/>
          </p:cNvSpPr>
          <p:nvPr/>
        </p:nvSpPr>
        <p:spPr>
          <a:xfrm xmlns:a="http://schemas.openxmlformats.org/drawingml/2006/main">
            <a:off x="609600" y="376237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62A54"/>
                </a:solidFill>
                <a:latin typeface="DejaVu Sans"/>
                <a:ea typeface="DejaVu Sans"/>
                <a:cs typeface="DejaVu Sans"/>
              </a:defRPr>
            </a:defPPr>
          </a:lstStyle>
          <a:p xmlns:a="http://schemas.openxmlformats.org/drawingml/2006/main">
            <a:pPr>
              <a:defRPr sz="2325" b="1">
                <a:solidFill>
                  <a:srgbClr val="262A54"/>
                </a:solidFill>
                <a:latin typeface="DejaVu Sans"/>
                <a:ea typeface="DejaVu Sans"/>
                <a:cs typeface="DejaVu Sans"/>
              </a:defRPr>
            </a:pPr>
            <a:r>
              <a:rPr sz="2325" b="1">
                <a:solidFill>
                  <a:srgbClr val="262A54"/>
                </a:solidFill>
                <a:latin typeface="DejaVu Sans"/>
                <a:ea typeface="DejaVu Sans"/>
                <a:cs typeface="DejaVu Sans"/>
              </a:rPr>
              <a:t>Organizer</a:t>
            </a:r>
          </a:p>
        </p:txBody>
      </p:sp>
      <p:sp>
        <p:nvSpPr>
          <p:cNvPr id="6" name="Open requests, review answers and accept or reject">
            <a:extLst xmlns:a="http://schemas.openxmlformats.org/drawingml/2006/main">
              <a:ext uri="{FF2B5EF4-FFF2-40B4-BE49-F238E27FC236}">
                <a16:creationId xmlns:a16="http://schemas.microsoft.com/office/drawing/2014/main" id="{51376D69-A2AE-4E55-8E9F-34CD39378E7E}"/>
              </a:ext>
            </a:extLst>
          </p:cNvPr>
          <p:cNvSpPr>
            <a:spLocks xmlns:a="http://schemas.openxmlformats.org/drawingml/2006/main" noGrp="1"/>
          </p:cNvSpPr>
          <p:nvPr/>
        </p:nvSpPr>
        <p:spPr>
          <a:xfrm xmlns:a="http://schemas.openxmlformats.org/drawingml/2006/main">
            <a:off x="609600" y="436245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62A54"/>
                </a:solidFill>
                <a:latin typeface="DejaVu Sans"/>
                <a:ea typeface="DejaVu Sans"/>
                <a:cs typeface="DejaVu Sans"/>
              </a:defRPr>
            </a:defPPr>
          </a:lstStyle>
          <a:p xmlns:a="http://schemas.openxmlformats.org/drawingml/2006/main">
            <a:pPr>
              <a:defRPr sz="2100" b="0">
                <a:solidFill>
                  <a:srgbClr val="262A54"/>
                </a:solidFill>
                <a:latin typeface="DejaVu Sans"/>
                <a:ea typeface="DejaVu Sans"/>
                <a:cs typeface="DejaVu Sans"/>
              </a:defRPr>
            </a:pPr>
            <a:r>
              <a:rPr sz="2100" b="0">
                <a:solidFill>
                  <a:srgbClr val="262A54"/>
                </a:solidFill>
                <a:latin typeface="DejaVu Sans"/>
                <a:ea typeface="DejaVu Sans"/>
                <a:cs typeface="DejaVu Sans"/>
              </a:rPr>
              <a:t>Open requests, review answers and accept or reject</a:t>
            </a:r>
          </a:p>
        </p:txBody>
      </p:sp>
      <p:sp>
        <p:nvSpPr>
          <p:cNvPr id="7" name="Both sides can see a clear request status">
            <a:extLst xmlns:a="http://schemas.openxmlformats.org/drawingml/2006/main">
              <a:ext uri="{FF2B5EF4-FFF2-40B4-BE49-F238E27FC236}">
                <a16:creationId xmlns:a16="http://schemas.microsoft.com/office/drawing/2014/main" id="{B754B9B2-787C-4D9B-A3D0-D4453D94FCB2}"/>
              </a:ext>
            </a:extLst>
          </p:cNvPr>
          <p:cNvSpPr>
            <a:spLocks xmlns:a="http://schemas.openxmlformats.org/drawingml/2006/main" noGrp="1"/>
          </p:cNvSpPr>
          <p:nvPr/>
        </p:nvSpPr>
        <p:spPr>
          <a:xfrm xmlns:a="http://schemas.openxmlformats.org/drawingml/2006/main">
            <a:off x="609600" y="57721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06878"/>
                </a:solidFill>
                <a:latin typeface="DejaVu Sans"/>
                <a:ea typeface="DejaVu Sans"/>
                <a:cs typeface="DejaVu Sans"/>
              </a:defRPr>
            </a:defPPr>
          </a:lstStyle>
          <a:p xmlns:a="http://schemas.openxmlformats.org/drawingml/2006/main">
            <a:pPr>
              <a:defRPr sz="1725" b="0">
                <a:solidFill>
                  <a:srgbClr val="606878"/>
                </a:solidFill>
                <a:latin typeface="DejaVu Sans"/>
                <a:ea typeface="DejaVu Sans"/>
                <a:cs typeface="DejaVu Sans"/>
              </a:defRPr>
            </a:pPr>
            <a:r>
              <a:rPr sz="1725" b="0">
                <a:solidFill>
                  <a:srgbClr val="606878"/>
                </a:solidFill>
                <a:latin typeface="DejaVu Sans"/>
                <a:ea typeface="DejaVu Sans"/>
                <a:cs typeface="DejaVu Sans"/>
              </a:rPr>
              <a:t>Both sides can see a clear request status</a:t>
            </a:r>
          </a:p>
        </p:txBody>
      </p:sp>
    </p:spTree>
    <p:extLst>
      <p:ext uri="{BB962C8B-B14F-4D97-AF65-F5344CB8AC3E}">
        <p14:creationId xmlns:p14="http://schemas.microsoft.com/office/powerpoint/2010/main" val="2677382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ive prototype demonstration">
            <a:extLst xmlns:a="http://schemas.openxmlformats.org/drawingml/2006/main">
              <a:ext uri="{FF2B5EF4-FFF2-40B4-BE49-F238E27FC236}">
                <a16:creationId xmlns:a16="http://schemas.microsoft.com/office/drawing/2014/main" id="{56E022CB-6982-4B6F-851B-849264A6D3CE}"/>
              </a:ext>
            </a:extLst>
          </p:cNvPr>
          <p:cNvSpPr>
            <a:spLocks xmlns:a="http://schemas.openxmlformats.org/drawingml/2006/main" noGrp="1"/>
          </p:cNvSpPr>
          <p:nvPr/>
        </p:nvSpPr>
        <p:spPr>
          <a:xfrm xmlns:a="http://schemas.openxmlformats.org/drawingml/2006/main">
            <a:off x="609600" y="476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262A54"/>
                </a:solidFill>
                <a:latin typeface="DejaVu Sans"/>
                <a:ea typeface="DejaVu Sans"/>
                <a:cs typeface="DejaVu Sans"/>
              </a:defRPr>
            </a:defPPr>
          </a:lstStyle>
          <a:p xmlns:a="http://schemas.openxmlformats.org/drawingml/2006/main">
            <a:pPr>
              <a:defRPr sz="3225" b="1">
                <a:solidFill>
                  <a:srgbClr val="262A54"/>
                </a:solidFill>
                <a:latin typeface="DejaVu Sans"/>
                <a:ea typeface="DejaVu Sans"/>
                <a:cs typeface="DejaVu Sans"/>
              </a:defRPr>
            </a:pPr>
            <a:r>
              <a:rPr sz="3225" b="1">
                <a:solidFill>
                  <a:srgbClr val="262A54"/>
                </a:solidFill>
                <a:latin typeface="DejaVu Sans"/>
                <a:ea typeface="DejaVu Sans"/>
                <a:cs typeface="DejaVu Sans"/>
              </a:rPr>
              <a:t>Live prototype demonstration</a:t>
            </a:r>
          </a:p>
        </p:txBody>
      </p:sp>
      <p:sp>
        <p:nvSpPr>
          <p:cNvPr id="2" name="07">
            <a:extLst xmlns:a="http://schemas.openxmlformats.org/drawingml/2006/main">
              <a:ext uri="{FF2B5EF4-FFF2-40B4-BE49-F238E27FC236}">
                <a16:creationId xmlns:a16="http://schemas.microsoft.com/office/drawing/2014/main" id="{4E5677F6-8B86-4E89-A0EC-635DCB147B66}"/>
              </a:ext>
            </a:extLst>
          </p:cNvPr>
          <p:cNvSpPr>
            <a:spLocks xmlns:a="http://schemas.openxmlformats.org/drawingml/2006/main" noGrp="1"/>
          </p:cNvSpPr>
          <p:nvPr/>
        </p:nvSpPr>
        <p:spPr>
          <a:xfrm xmlns:a="http://schemas.openxmlformats.org/drawingml/2006/main">
            <a:off x="11334750" y="6257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06878"/>
                </a:solidFill>
                <a:latin typeface="DejaVu Sans"/>
                <a:ea typeface="DejaVu Sans"/>
                <a:cs typeface="DejaVu Sans"/>
              </a:defRPr>
            </a:defPPr>
          </a:lstStyle>
          <a:p xmlns:a="http://schemas.openxmlformats.org/drawingml/2006/main">
            <a:pPr>
              <a:defRPr sz="1200" b="0">
                <a:solidFill>
                  <a:srgbClr val="606878"/>
                </a:solidFill>
                <a:latin typeface="DejaVu Sans"/>
                <a:ea typeface="DejaVu Sans"/>
                <a:cs typeface="DejaVu Sans"/>
              </a:defRPr>
            </a:pPr>
            <a:r>
              <a:rPr sz="1200" b="0">
                <a:solidFill>
                  <a:srgbClr val="606878"/>
                </a:solidFill>
                <a:latin typeface="DejaVu Sans"/>
                <a:ea typeface="DejaVu Sans"/>
                <a:cs typeface="DejaVu Sans"/>
              </a:rPr>
              <a:t>07</a:t>
            </a:r>
          </a:p>
        </p:txBody>
      </p:sp>
      <p:sp>
        <p:nvSpPr>
          <p:cNvPr id="3" name="Applicant flow">
            <a:extLst xmlns:a="http://schemas.openxmlformats.org/drawingml/2006/main">
              <a:ext uri="{FF2B5EF4-FFF2-40B4-BE49-F238E27FC236}">
                <a16:creationId xmlns:a16="http://schemas.microsoft.com/office/drawing/2014/main" id="{ADC4C120-404F-4292-8609-625F5E17EF8B}"/>
              </a:ext>
            </a:extLst>
          </p:cNvPr>
          <p:cNvSpPr>
            <a:spLocks xmlns:a="http://schemas.openxmlformats.org/drawingml/2006/main" noGrp="1"/>
          </p:cNvSpPr>
          <p:nvPr/>
        </p:nvSpPr>
        <p:spPr>
          <a:xfrm xmlns:a="http://schemas.openxmlformats.org/drawingml/2006/main">
            <a:off x="609600" y="1857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62A54"/>
                </a:solidFill>
                <a:latin typeface="DejaVu Sans"/>
                <a:ea typeface="DejaVu Sans"/>
                <a:cs typeface="DejaVu Sans"/>
              </a:defRPr>
            </a:defPPr>
          </a:lstStyle>
          <a:p xmlns:a="http://schemas.openxmlformats.org/drawingml/2006/main">
            <a:pPr>
              <a:defRPr sz="2400" b="1">
                <a:solidFill>
                  <a:srgbClr val="262A54"/>
                </a:solidFill>
                <a:latin typeface="DejaVu Sans"/>
                <a:ea typeface="DejaVu Sans"/>
                <a:cs typeface="DejaVu Sans"/>
              </a:defRPr>
            </a:pPr>
            <a:r>
              <a:rPr sz="2400" b="1">
                <a:solidFill>
                  <a:srgbClr val="262A54"/>
                </a:solidFill>
                <a:latin typeface="DejaVu Sans"/>
                <a:ea typeface="DejaVu Sans"/>
                <a:cs typeface="DejaVu Sans"/>
              </a:rPr>
              <a:t>Applicant flow</a:t>
            </a:r>
          </a:p>
        </p:txBody>
      </p:sp>
      <p:sp>
        <p:nvSpPr>
          <p:cNvPr id="4" name="Browse, group details, application, Pending">
            <a:extLst xmlns:a="http://schemas.openxmlformats.org/drawingml/2006/main">
              <a:ext uri="{FF2B5EF4-FFF2-40B4-BE49-F238E27FC236}">
                <a16:creationId xmlns:a16="http://schemas.microsoft.com/office/drawing/2014/main" id="{D9672B3C-58E9-4173-BEC2-6FD1E9759C20}"/>
              </a:ext>
            </a:extLst>
          </p:cNvPr>
          <p:cNvSpPr>
            <a:spLocks xmlns:a="http://schemas.openxmlformats.org/drawingml/2006/main" noGrp="1"/>
          </p:cNvSpPr>
          <p:nvPr/>
        </p:nvSpPr>
        <p:spPr>
          <a:xfrm xmlns:a="http://schemas.openxmlformats.org/drawingml/2006/main">
            <a:off x="609600" y="25241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62A54"/>
                </a:solidFill>
                <a:latin typeface="DejaVu Sans"/>
                <a:ea typeface="DejaVu Sans"/>
                <a:cs typeface="DejaVu Sans"/>
              </a:defRPr>
            </a:defPPr>
          </a:lstStyle>
          <a:p xmlns:a="http://schemas.openxmlformats.org/drawingml/2006/main">
            <a:pPr>
              <a:defRPr sz="2175" b="0">
                <a:solidFill>
                  <a:srgbClr val="262A54"/>
                </a:solidFill>
                <a:latin typeface="DejaVu Sans"/>
                <a:ea typeface="DejaVu Sans"/>
                <a:cs typeface="DejaVu Sans"/>
              </a:defRPr>
            </a:pPr>
            <a:r>
              <a:rPr sz="2175" b="0">
                <a:solidFill>
                  <a:srgbClr val="262A54"/>
                </a:solidFill>
                <a:latin typeface="DejaVu Sans"/>
                <a:ea typeface="DejaVu Sans"/>
                <a:cs typeface="DejaVu Sans"/>
              </a:rPr>
              <a:t>Browse, group details, application, Pending</a:t>
            </a:r>
          </a:p>
        </p:txBody>
      </p:sp>
      <p:sp>
        <p:nvSpPr>
          <p:cNvPr id="5" name="Organizer flow">
            <a:extLst xmlns:a="http://schemas.openxmlformats.org/drawingml/2006/main">
              <a:ext uri="{FF2B5EF4-FFF2-40B4-BE49-F238E27FC236}">
                <a16:creationId xmlns:a16="http://schemas.microsoft.com/office/drawing/2014/main" id="{A4C9A83E-33EF-48E3-9ECE-B603BB82C743}"/>
              </a:ext>
            </a:extLst>
          </p:cNvPr>
          <p:cNvSpPr>
            <a:spLocks xmlns:a="http://schemas.openxmlformats.org/drawingml/2006/main" noGrp="1"/>
          </p:cNvSpPr>
          <p:nvPr/>
        </p:nvSpPr>
        <p:spPr>
          <a:xfrm xmlns:a="http://schemas.openxmlformats.org/drawingml/2006/main">
            <a:off x="609600" y="36480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62A54"/>
                </a:solidFill>
                <a:latin typeface="DejaVu Sans"/>
                <a:ea typeface="DejaVu Sans"/>
                <a:cs typeface="DejaVu Sans"/>
              </a:defRPr>
            </a:defPPr>
          </a:lstStyle>
          <a:p xmlns:a="http://schemas.openxmlformats.org/drawingml/2006/main">
            <a:pPr>
              <a:defRPr sz="2400" b="1">
                <a:solidFill>
                  <a:srgbClr val="262A54"/>
                </a:solidFill>
                <a:latin typeface="DejaVu Sans"/>
                <a:ea typeface="DejaVu Sans"/>
                <a:cs typeface="DejaVu Sans"/>
              </a:defRPr>
            </a:pPr>
            <a:r>
              <a:rPr sz="2400" b="1">
                <a:solidFill>
                  <a:srgbClr val="262A54"/>
                </a:solidFill>
                <a:latin typeface="DejaVu Sans"/>
                <a:ea typeface="DejaVu Sans"/>
                <a:cs typeface="DejaVu Sans"/>
              </a:rPr>
              <a:t>Organizer flow</a:t>
            </a:r>
          </a:p>
        </p:txBody>
      </p:sp>
      <p:sp>
        <p:nvSpPr>
          <p:cNvPr id="6" name="Review 70% compatibility and accept the request">
            <a:extLst xmlns:a="http://schemas.openxmlformats.org/drawingml/2006/main">
              <a:ext uri="{FF2B5EF4-FFF2-40B4-BE49-F238E27FC236}">
                <a16:creationId xmlns:a16="http://schemas.microsoft.com/office/drawing/2014/main" id="{0FD58005-6531-4567-A4B2-F12A3FFF0665}"/>
              </a:ext>
            </a:extLst>
          </p:cNvPr>
          <p:cNvSpPr>
            <a:spLocks xmlns:a="http://schemas.openxmlformats.org/drawingml/2006/main" noGrp="1"/>
          </p:cNvSpPr>
          <p:nvPr/>
        </p:nvSpPr>
        <p:spPr>
          <a:xfrm xmlns:a="http://schemas.openxmlformats.org/drawingml/2006/main">
            <a:off x="609600" y="43148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62A54"/>
                </a:solidFill>
                <a:latin typeface="DejaVu Sans"/>
                <a:ea typeface="DejaVu Sans"/>
                <a:cs typeface="DejaVu Sans"/>
              </a:defRPr>
            </a:defPPr>
          </a:lstStyle>
          <a:p xmlns:a="http://schemas.openxmlformats.org/drawingml/2006/main">
            <a:pPr>
              <a:defRPr sz="2175" b="0">
                <a:solidFill>
                  <a:srgbClr val="262A54"/>
                </a:solidFill>
                <a:latin typeface="DejaVu Sans"/>
                <a:ea typeface="DejaVu Sans"/>
                <a:cs typeface="DejaVu Sans"/>
              </a:defRPr>
            </a:pPr>
            <a:r>
              <a:rPr sz="2175" b="0">
                <a:solidFill>
                  <a:srgbClr val="262A54"/>
                </a:solidFill>
                <a:latin typeface="DejaVu Sans"/>
                <a:ea typeface="DejaVu Sans"/>
                <a:cs typeface="DejaVu Sans"/>
              </a:rPr>
              <a:t>Review 70% compatibility and accept the request</a:t>
            </a:r>
          </a:p>
        </p:txBody>
      </p:sp>
      <p:sp>
        <p:nvSpPr>
          <p:cNvPr id="7" name="Live demonstration in the native Figma prototype">
            <a:extLst xmlns:a="http://schemas.openxmlformats.org/drawingml/2006/main">
              <a:ext uri="{FF2B5EF4-FFF2-40B4-BE49-F238E27FC236}">
                <a16:creationId xmlns:a16="http://schemas.microsoft.com/office/drawing/2014/main" id="{F436DF0D-E43F-4203-8583-2DE7E4DF9F64}"/>
              </a:ext>
            </a:extLst>
          </p:cNvPr>
          <p:cNvSpPr>
            <a:spLocks xmlns:a="http://schemas.openxmlformats.org/drawingml/2006/main" noGrp="1"/>
          </p:cNvSpPr>
          <p:nvPr/>
        </p:nvSpPr>
        <p:spPr>
          <a:xfrm xmlns:a="http://schemas.openxmlformats.org/drawingml/2006/main">
            <a:off x="609600" y="58102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06878"/>
                </a:solidFill>
                <a:latin typeface="DejaVu Sans"/>
                <a:ea typeface="DejaVu Sans"/>
                <a:cs typeface="DejaVu Sans"/>
              </a:defRPr>
            </a:defPPr>
          </a:lstStyle>
          <a:p xmlns:a="http://schemas.openxmlformats.org/drawingml/2006/main">
            <a:pPr>
              <a:defRPr sz="1725" b="0">
                <a:solidFill>
                  <a:srgbClr val="606878"/>
                </a:solidFill>
                <a:latin typeface="DejaVu Sans"/>
                <a:ea typeface="DejaVu Sans"/>
                <a:cs typeface="DejaVu Sans"/>
              </a:defRPr>
            </a:pPr>
            <a:r>
              <a:rPr sz="1725" b="0">
                <a:solidFill>
                  <a:srgbClr val="606878"/>
                </a:solidFill>
                <a:latin typeface="DejaVu Sans"/>
                <a:ea typeface="DejaVu Sans"/>
                <a:cs typeface="DejaVu Sans"/>
              </a:rPr>
              <a:t>Live demonstration in the native Figma prototype</a:t>
            </a:r>
          </a:p>
        </p:txBody>
      </p:sp>
    </p:spTree>
    <p:extLst>
      <p:ext uri="{BB962C8B-B14F-4D97-AF65-F5344CB8AC3E}">
        <p14:creationId xmlns:p14="http://schemas.microsoft.com/office/powerpoint/2010/main" val="5408148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17DD1EF4-FFE1-4BED-A7E2-1970213CAF2F}"/>
              </a:ext>
            </a:extLst>
          </p:cNvPr>
          <p:cNvCxnSpPr>
            <a:stCxn xmlns:a="http://schemas.openxmlformats.org/drawingml/2006/main" id="3" idx="2"/>
            <a:endCxn xmlns:a="http://schemas.openxmlformats.org/drawingml/2006/main" id="10" idx="1"/>
          </p:cNvCxnSpPr>
          <p:nvPr/>
        </p:nvCxnSpPr>
        <p:spPr>
          <a:xfrm xmlns:a="http://schemas.openxmlformats.org/drawingml/2006/main">
            <a:off x="2562225" y="3505200"/>
            <a:ext cx="4695825" cy="1657350"/>
          </a:xfrm>
          <a:prstGeom xmlns:a="http://schemas.openxmlformats.org/drawingml/2006/main" prst="bentConnector5">
            <a:avLst>
              <a:gd name="adj1" fmla="val 0"/>
              <a:gd name="adj2" fmla="val 13793"/>
              <a:gd name="adj3" fmla="val 43813"/>
            </a:avLst>
          </a:prstGeom>
          <a:ln xmlns:a="http://schemas.openxmlformats.org/drawingml/2006/main" w="19050">
            <a:solidFill>
              <a:srgbClr val="606878"/>
            </a:solidFill>
          </a:ln>
        </p:spPr>
      </p:cxnSp>
      <p:cxnSp>
        <p:nvCxnSpPr>
          <p:cNvPr id="15" name="">
            <a:extLst xmlns:a="http://schemas.openxmlformats.org/drawingml/2006/main">
              <a:ext uri="{FF2B5EF4-FFF2-40B4-BE49-F238E27FC236}">
                <a16:creationId xmlns:a16="http://schemas.microsoft.com/office/drawing/2014/main" id="{1A1A2530-2C4D-432B-9870-463B3B498052}"/>
              </a:ext>
            </a:extLst>
          </p:cNvPr>
          <p:cNvCxnSpPr>
            <a:stCxn xmlns:a="http://schemas.openxmlformats.org/drawingml/2006/main" id="6" idx="2"/>
            <a:endCxn xmlns:a="http://schemas.openxmlformats.org/drawingml/2006/main" id="10" idx="0"/>
          </p:cNvCxnSpPr>
          <p:nvPr/>
        </p:nvCxnSpPr>
        <p:spPr>
          <a:xfrm xmlns:a="http://schemas.openxmlformats.org/drawingml/2006/main">
            <a:off x="9377363" y="3505200"/>
            <a:ext cx="0" cy="838200"/>
          </a:xfrm>
          <a:prstGeom xmlns:a="http://schemas.openxmlformats.org/drawingml/2006/main" prst="straightConnector1">
            <a:avLst/>
          </a:prstGeom>
          <a:ln xmlns:a="http://schemas.openxmlformats.org/drawingml/2006/main" w="19050">
            <a:solidFill>
              <a:srgbClr val="606878"/>
            </a:solidFill>
          </a:ln>
        </p:spPr>
      </p:cxnSp>
      <p:cxnSp>
        <p:nvCxnSpPr>
          <p:cNvPr id="13" name="">
            <a:extLst xmlns:a="http://schemas.openxmlformats.org/drawingml/2006/main">
              <a:ext uri="{FF2B5EF4-FFF2-40B4-BE49-F238E27FC236}">
                <a16:creationId xmlns:a16="http://schemas.microsoft.com/office/drawing/2014/main" id="{78AB6A9C-A9DA-4C7D-8398-C800BF3F5206}"/>
              </a:ext>
            </a:extLst>
          </p:cNvPr>
          <p:cNvCxnSpPr>
            <a:stCxn xmlns:a="http://schemas.openxmlformats.org/drawingml/2006/main" id="3" idx="3"/>
            <a:endCxn xmlns:a="http://schemas.openxmlformats.org/drawingml/2006/main" id="6" idx="1"/>
          </p:cNvCxnSpPr>
          <p:nvPr/>
        </p:nvCxnSpPr>
        <p:spPr>
          <a:xfrm xmlns:a="http://schemas.openxmlformats.org/drawingml/2006/main">
            <a:off x="4514850" y="2686050"/>
            <a:ext cx="2743200" cy="0"/>
          </a:xfrm>
          <a:prstGeom xmlns:a="http://schemas.openxmlformats.org/drawingml/2006/main" prst="straightConnector1">
            <a:avLst/>
          </a:prstGeom>
          <a:ln xmlns:a="http://schemas.openxmlformats.org/drawingml/2006/main" w="19050">
            <a:solidFill>
              <a:srgbClr val="606878"/>
            </a:solidFill>
          </a:ln>
        </p:spPr>
      </p:cxnSp>
      <p:sp>
        <p:nvSpPr>
          <p:cNvPr id="20" name="The database design">
            <a:extLst xmlns:a="http://schemas.openxmlformats.org/drawingml/2006/main">
              <a:ext uri="{FF2B5EF4-FFF2-40B4-BE49-F238E27FC236}">
                <a16:creationId xmlns:a16="http://schemas.microsoft.com/office/drawing/2014/main" id="{0BF7D4A7-1609-4522-BB42-11C1BEE0EDB4}"/>
              </a:ext>
            </a:extLst>
          </p:cNvPr>
          <p:cNvSpPr>
            <a:spLocks xmlns:a="http://schemas.openxmlformats.org/drawingml/2006/main" noGrp="1"/>
          </p:cNvSpPr>
          <p:nvPr/>
        </p:nvSpPr>
        <p:spPr>
          <a:xfrm xmlns:a="http://schemas.openxmlformats.org/drawingml/2006/main">
            <a:off x="609600" y="476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262A54"/>
                </a:solidFill>
                <a:latin typeface="DejaVu Sans"/>
                <a:ea typeface="DejaVu Sans"/>
                <a:cs typeface="DejaVu Sans"/>
              </a:defRPr>
            </a:defPPr>
          </a:lstStyle>
          <a:p xmlns:a="http://schemas.openxmlformats.org/drawingml/2006/main">
            <a:pPr>
              <a:defRPr sz="3225" b="1">
                <a:solidFill>
                  <a:srgbClr val="262A54"/>
                </a:solidFill>
                <a:latin typeface="DejaVu Sans"/>
                <a:ea typeface="DejaVu Sans"/>
                <a:cs typeface="DejaVu Sans"/>
              </a:defRPr>
            </a:pPr>
            <a:r>
              <a:rPr sz="3225" b="1">
                <a:solidFill>
                  <a:srgbClr val="262A54"/>
                </a:solidFill>
                <a:latin typeface="DejaVu Sans"/>
                <a:ea typeface="DejaVu Sans"/>
                <a:cs typeface="DejaVu Sans"/>
              </a:rPr>
              <a:t>The database design</a:t>
            </a:r>
          </a:p>
        </p:txBody>
      </p:sp>
      <p:sp>
        <p:nvSpPr>
          <p:cNvPr id="2" name="08">
            <a:extLst xmlns:a="http://schemas.openxmlformats.org/drawingml/2006/main">
              <a:ext uri="{FF2B5EF4-FFF2-40B4-BE49-F238E27FC236}">
                <a16:creationId xmlns:a16="http://schemas.microsoft.com/office/drawing/2014/main" id="{A1E87F3D-21CC-48B9-A6CC-B985E5D63D7C}"/>
              </a:ext>
            </a:extLst>
          </p:cNvPr>
          <p:cNvSpPr>
            <a:spLocks xmlns:a="http://schemas.openxmlformats.org/drawingml/2006/main" noGrp="1"/>
          </p:cNvSpPr>
          <p:nvPr/>
        </p:nvSpPr>
        <p:spPr>
          <a:xfrm xmlns:a="http://schemas.openxmlformats.org/drawingml/2006/main">
            <a:off x="11334750" y="6257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06878"/>
                </a:solidFill>
                <a:latin typeface="DejaVu Sans"/>
                <a:ea typeface="DejaVu Sans"/>
                <a:cs typeface="DejaVu Sans"/>
              </a:defRPr>
            </a:defPPr>
          </a:lstStyle>
          <a:p xmlns:a="http://schemas.openxmlformats.org/drawingml/2006/main">
            <a:pPr>
              <a:defRPr sz="1200" b="0">
                <a:solidFill>
                  <a:srgbClr val="606878"/>
                </a:solidFill>
                <a:latin typeface="DejaVu Sans"/>
                <a:ea typeface="DejaVu Sans"/>
                <a:cs typeface="DejaVu Sans"/>
              </a:defRPr>
            </a:pPr>
            <a:r>
              <a:rPr sz="1200" b="0">
                <a:solidFill>
                  <a:srgbClr val="606878"/>
                </a:solidFill>
                <a:latin typeface="DejaVu Sans"/>
                <a:ea typeface="DejaVu Sans"/>
                <a:cs typeface="DejaVu Sans"/>
              </a:rPr>
              <a:t>08</a:t>
            </a:r>
          </a:p>
        </p:txBody>
      </p:sp>
      <p:sp>
        <p:nvSpPr>
          <p:cNvPr id="3" name="users">
            <a:extLst xmlns:a="http://schemas.openxmlformats.org/drawingml/2006/main">
              <a:ext uri="{FF2B5EF4-FFF2-40B4-BE49-F238E27FC236}">
                <a16:creationId xmlns:a16="http://schemas.microsoft.com/office/drawing/2014/main" id="{B4792B4F-E4FE-4461-AF3F-50C80E7B327A}"/>
              </a:ext>
            </a:extLst>
          </p:cNvPr>
          <p:cNvSpPr>
            <a:spLocks xmlns:a="http://schemas.openxmlformats.org/drawingml/2006/main" noGrp="1"/>
          </p:cNvSpPr>
          <p:nvPr/>
        </p:nvSpPr>
        <p:spPr>
          <a:xfrm xmlns:a="http://schemas.openxmlformats.org/drawingml/2006/main">
            <a:off x="609600" y="1866900"/>
            <a:ext cx="3905250" cy="1638300"/>
          </a:xfrm>
          <a:prstGeom xmlns:a="http://schemas.openxmlformats.org/drawingml/2006/main" prst="rect">
            <a:avLst/>
          </a:prstGeom>
          <a:solidFill xmlns:a="http://schemas.openxmlformats.org/drawingml/2006/main">
            <a:srgbClr val="F3F5F8"/>
          </a:solidFill>
          <a:ln xmlns:a="http://schemas.openxmlformats.org/drawingml/2006/main" w="14288">
            <a:solidFill>
              <a:srgbClr val="262A54"/>
            </a:solidFill>
          </a:ln>
        </p:spPr>
      </p:sp>
      <p:sp>
        <p:nvSpPr>
          <p:cNvPr id="4" name="users">
            <a:extLst xmlns:a="http://schemas.openxmlformats.org/drawingml/2006/main">
              <a:ext uri="{FF2B5EF4-FFF2-40B4-BE49-F238E27FC236}">
                <a16:creationId xmlns:a16="http://schemas.microsoft.com/office/drawing/2014/main" id="{6971167A-9656-458A-8018-9D2E4B447092}"/>
              </a:ext>
            </a:extLst>
          </p:cNvPr>
          <p:cNvSpPr>
            <a:spLocks xmlns:a="http://schemas.openxmlformats.org/drawingml/2006/main" noGrp="1"/>
          </p:cNvSpPr>
          <p:nvPr/>
        </p:nvSpPr>
        <p:spPr>
          <a:xfrm xmlns:a="http://schemas.openxmlformats.org/drawingml/2006/main">
            <a:off x="762000" y="1981200"/>
            <a:ext cx="3600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262A54"/>
                </a:solidFill>
                <a:latin typeface="DejaVu Sans"/>
                <a:ea typeface="DejaVu Sans"/>
                <a:cs typeface="DejaVu Sans"/>
              </a:defRPr>
            </a:defPPr>
          </a:lstStyle>
          <a:p xmlns:a="http://schemas.openxmlformats.org/drawingml/2006/main">
            <a:pPr>
              <a:defRPr sz="1875" b="1">
                <a:solidFill>
                  <a:srgbClr val="262A54"/>
                </a:solidFill>
                <a:latin typeface="DejaVu Sans"/>
                <a:ea typeface="DejaVu Sans"/>
                <a:cs typeface="DejaVu Sans"/>
              </a:defRPr>
            </a:pPr>
            <a:r>
              <a:rPr sz="1875" b="1">
                <a:solidFill>
                  <a:srgbClr val="262A54"/>
                </a:solidFill>
                <a:latin typeface="DejaVu Sans"/>
                <a:ea typeface="DejaVu Sans"/>
                <a:cs typeface="DejaVu Sans"/>
              </a:rPr>
              <a:t>users</a:t>
            </a:r>
          </a:p>
        </p:txBody>
      </p:sp>
      <p:sp>
        <p:nvSpPr>
          <p:cNvPr id="5" name="PK user_id&#10;full_name&#10;email">
            <a:extLst xmlns:a="http://schemas.openxmlformats.org/drawingml/2006/main">
              <a:ext uri="{FF2B5EF4-FFF2-40B4-BE49-F238E27FC236}">
                <a16:creationId xmlns:a16="http://schemas.microsoft.com/office/drawing/2014/main" id="{3FFB9A8F-07B6-4397-A543-3C823409515B}"/>
              </a:ext>
            </a:extLst>
          </p:cNvPr>
          <p:cNvSpPr>
            <a:spLocks xmlns:a="http://schemas.openxmlformats.org/drawingml/2006/main" noGrp="1"/>
          </p:cNvSpPr>
          <p:nvPr/>
        </p:nvSpPr>
        <p:spPr>
          <a:xfrm xmlns:a="http://schemas.openxmlformats.org/drawingml/2006/main">
            <a:off x="762000" y="2419350"/>
            <a:ext cx="36004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62A54"/>
                </a:solidFill>
                <a:latin typeface="DejaVu Sans"/>
                <a:ea typeface="DejaVu Sans"/>
                <a:cs typeface="DejaVu Sans"/>
              </a:defRPr>
            </a:defPPr>
          </a:lstStyle>
          <a:p xmlns:a="http://schemas.openxmlformats.org/drawingml/2006/main">
            <a:pPr>
              <a:defRPr sz="1500" b="0">
                <a:solidFill>
                  <a:srgbClr val="262A54"/>
                </a:solidFill>
                <a:latin typeface="DejaVu Sans"/>
                <a:ea typeface="DejaVu Sans"/>
                <a:cs typeface="DejaVu Sans"/>
              </a:defRPr>
            </a:pPr>
            <a:r>
              <a:rPr sz="1500" b="0">
                <a:solidFill>
                  <a:srgbClr val="262A54"/>
                </a:solidFill>
                <a:latin typeface="DejaVu Sans"/>
                <a:ea typeface="DejaVu Sans"/>
                <a:cs typeface="DejaVu Sans"/>
              </a:rPr>
              <a:t>PK user_id</a:t>
            </a:r>
          </a:p>
          <a:p xmlns:a="http://schemas.openxmlformats.org/drawingml/2006/main">
            <a:pPr>
              <a:defRPr sz="1500" b="0">
                <a:solidFill>
                  <a:srgbClr val="262A54"/>
                </a:solidFill>
                <a:latin typeface="DejaVu Sans"/>
                <a:ea typeface="DejaVu Sans"/>
                <a:cs typeface="DejaVu Sans"/>
              </a:defRPr>
            </a:pPr>
            <a:r>
              <a:rPr sz="1500" b="0">
                <a:solidFill>
                  <a:srgbClr val="262A54"/>
                </a:solidFill>
                <a:latin typeface="DejaVu Sans"/>
                <a:ea typeface="DejaVu Sans"/>
                <a:cs typeface="DejaVu Sans"/>
              </a:rPr>
              <a:t>full_name</a:t>
            </a:r>
          </a:p>
          <a:p xmlns:a="http://schemas.openxmlformats.org/drawingml/2006/main">
            <a:pPr>
              <a:defRPr sz="1500" b="0">
                <a:solidFill>
                  <a:srgbClr val="262A54"/>
                </a:solidFill>
                <a:latin typeface="DejaVu Sans"/>
                <a:ea typeface="DejaVu Sans"/>
                <a:cs typeface="DejaVu Sans"/>
              </a:defRPr>
            </a:pPr>
            <a:r>
              <a:rPr sz="1500" b="0">
                <a:solidFill>
                  <a:srgbClr val="262A54"/>
                </a:solidFill>
                <a:latin typeface="DejaVu Sans"/>
                <a:ea typeface="DejaVu Sans"/>
                <a:cs typeface="DejaVu Sans"/>
              </a:rPr>
              <a:t>email</a:t>
            </a:r>
          </a:p>
        </p:txBody>
      </p:sp>
      <p:sp>
        <p:nvSpPr>
          <p:cNvPr id="6" name="study_groups">
            <a:extLst xmlns:a="http://schemas.openxmlformats.org/drawingml/2006/main">
              <a:ext uri="{FF2B5EF4-FFF2-40B4-BE49-F238E27FC236}">
                <a16:creationId xmlns:a16="http://schemas.microsoft.com/office/drawing/2014/main" id="{A49CABAC-4390-45D7-8F20-2E4E533AB3DA}"/>
              </a:ext>
            </a:extLst>
          </p:cNvPr>
          <p:cNvSpPr>
            <a:spLocks xmlns:a="http://schemas.openxmlformats.org/drawingml/2006/main" noGrp="1"/>
          </p:cNvSpPr>
          <p:nvPr/>
        </p:nvSpPr>
        <p:spPr>
          <a:xfrm xmlns:a="http://schemas.openxmlformats.org/drawingml/2006/main">
            <a:off x="7258050" y="1866900"/>
            <a:ext cx="4238625" cy="1638300"/>
          </a:xfrm>
          <a:prstGeom xmlns:a="http://schemas.openxmlformats.org/drawingml/2006/main" prst="rect">
            <a:avLst/>
          </a:prstGeom>
          <a:solidFill xmlns:a="http://schemas.openxmlformats.org/drawingml/2006/main">
            <a:srgbClr val="F3F5F8"/>
          </a:solidFill>
          <a:ln xmlns:a="http://schemas.openxmlformats.org/drawingml/2006/main" w="14288">
            <a:solidFill>
              <a:srgbClr val="262A54"/>
            </a:solidFill>
          </a:ln>
        </p:spPr>
      </p:sp>
      <p:sp>
        <p:nvSpPr>
          <p:cNvPr id="7" name="study_groups">
            <a:extLst xmlns:a="http://schemas.openxmlformats.org/drawingml/2006/main">
              <a:ext uri="{FF2B5EF4-FFF2-40B4-BE49-F238E27FC236}">
                <a16:creationId xmlns:a16="http://schemas.microsoft.com/office/drawing/2014/main" id="{CCB31B2B-A3B9-4453-A358-DA177174FC0C}"/>
              </a:ext>
            </a:extLst>
          </p:cNvPr>
          <p:cNvSpPr>
            <a:spLocks xmlns:a="http://schemas.openxmlformats.org/drawingml/2006/main" noGrp="1"/>
          </p:cNvSpPr>
          <p:nvPr/>
        </p:nvSpPr>
        <p:spPr>
          <a:xfrm xmlns:a="http://schemas.openxmlformats.org/drawingml/2006/main">
            <a:off x="7410450" y="1981200"/>
            <a:ext cx="3933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262A54"/>
                </a:solidFill>
                <a:latin typeface="DejaVu Sans"/>
                <a:ea typeface="DejaVu Sans"/>
                <a:cs typeface="DejaVu Sans"/>
              </a:defRPr>
            </a:defPPr>
          </a:lstStyle>
          <a:p xmlns:a="http://schemas.openxmlformats.org/drawingml/2006/main">
            <a:pPr>
              <a:defRPr sz="1875" b="1">
                <a:solidFill>
                  <a:srgbClr val="262A54"/>
                </a:solidFill>
                <a:latin typeface="DejaVu Sans"/>
                <a:ea typeface="DejaVu Sans"/>
                <a:cs typeface="DejaVu Sans"/>
              </a:defRPr>
            </a:pPr>
            <a:r>
              <a:rPr sz="1875" b="1">
                <a:solidFill>
                  <a:srgbClr val="262A54"/>
                </a:solidFill>
                <a:latin typeface="DejaVu Sans"/>
                <a:ea typeface="DejaVu Sans"/>
                <a:cs typeface="DejaVu Sans"/>
              </a:rPr>
              <a:t>study_groups</a:t>
            </a:r>
          </a:p>
        </p:txBody>
      </p:sp>
      <p:sp>
        <p:nvSpPr>
          <p:cNvPr id="8" name="PK group_id&#10;FK organizer_id&#10;FK subject_id">
            <a:extLst xmlns:a="http://schemas.openxmlformats.org/drawingml/2006/main">
              <a:ext uri="{FF2B5EF4-FFF2-40B4-BE49-F238E27FC236}">
                <a16:creationId xmlns:a16="http://schemas.microsoft.com/office/drawing/2014/main" id="{1F6B2AD7-ABBE-4CC3-B6B5-8DB5738EC2D8}"/>
              </a:ext>
            </a:extLst>
          </p:cNvPr>
          <p:cNvSpPr>
            <a:spLocks xmlns:a="http://schemas.openxmlformats.org/drawingml/2006/main" noGrp="1"/>
          </p:cNvSpPr>
          <p:nvPr/>
        </p:nvSpPr>
        <p:spPr>
          <a:xfrm xmlns:a="http://schemas.openxmlformats.org/drawingml/2006/main">
            <a:off x="7410450" y="2419350"/>
            <a:ext cx="3933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62A54"/>
                </a:solidFill>
                <a:latin typeface="DejaVu Sans"/>
                <a:ea typeface="DejaVu Sans"/>
                <a:cs typeface="DejaVu Sans"/>
              </a:defRPr>
            </a:defPPr>
          </a:lstStyle>
          <a:p xmlns:a="http://schemas.openxmlformats.org/drawingml/2006/main">
            <a:pPr>
              <a:defRPr sz="1500" b="0">
                <a:solidFill>
                  <a:srgbClr val="262A54"/>
                </a:solidFill>
                <a:latin typeface="DejaVu Sans"/>
                <a:ea typeface="DejaVu Sans"/>
                <a:cs typeface="DejaVu Sans"/>
              </a:defRPr>
            </a:pPr>
            <a:r>
              <a:rPr sz="1500" b="0">
                <a:solidFill>
                  <a:srgbClr val="262A54"/>
                </a:solidFill>
                <a:latin typeface="DejaVu Sans"/>
                <a:ea typeface="DejaVu Sans"/>
                <a:cs typeface="DejaVu Sans"/>
              </a:rPr>
              <a:t>PK group_id</a:t>
            </a:r>
          </a:p>
          <a:p xmlns:a="http://schemas.openxmlformats.org/drawingml/2006/main">
            <a:pPr>
              <a:defRPr sz="1500" b="0">
                <a:solidFill>
                  <a:srgbClr val="262A54"/>
                </a:solidFill>
                <a:latin typeface="DejaVu Sans"/>
                <a:ea typeface="DejaVu Sans"/>
                <a:cs typeface="DejaVu Sans"/>
              </a:defRPr>
            </a:pPr>
            <a:r>
              <a:rPr sz="1500" b="0">
                <a:solidFill>
                  <a:srgbClr val="262A54"/>
                </a:solidFill>
                <a:latin typeface="DejaVu Sans"/>
                <a:ea typeface="DejaVu Sans"/>
                <a:cs typeface="DejaVu Sans"/>
              </a:rPr>
              <a:t>FK organizer_id</a:t>
            </a:r>
          </a:p>
          <a:p xmlns:a="http://schemas.openxmlformats.org/drawingml/2006/main">
            <a:pPr>
              <a:defRPr sz="1500" b="0">
                <a:solidFill>
                  <a:srgbClr val="262A54"/>
                </a:solidFill>
                <a:latin typeface="DejaVu Sans"/>
                <a:ea typeface="DejaVu Sans"/>
                <a:cs typeface="DejaVu Sans"/>
              </a:defRPr>
            </a:pPr>
            <a:r>
              <a:rPr sz="1500" b="0">
                <a:solidFill>
                  <a:srgbClr val="262A54"/>
                </a:solidFill>
                <a:latin typeface="DejaVu Sans"/>
                <a:ea typeface="DejaVu Sans"/>
                <a:cs typeface="DejaVu Sans"/>
              </a:rPr>
              <a:t>FK subject_id</a:t>
            </a:r>
          </a:p>
        </p:txBody>
      </p:sp>
      <p:sp>
        <p:nvSpPr>
          <p:cNvPr id="9" name="Reusable subject data lives in subjects.&#10;Preferences use sep">
            <a:extLst xmlns:a="http://schemas.openxmlformats.org/drawingml/2006/main">
              <a:ext uri="{FF2B5EF4-FFF2-40B4-BE49-F238E27FC236}">
                <a16:creationId xmlns:a16="http://schemas.microsoft.com/office/drawing/2014/main" id="{EB75CCFC-BBA0-4A41-9EB9-8AD5D8F400B3}"/>
              </a:ext>
            </a:extLst>
          </p:cNvPr>
          <p:cNvSpPr>
            <a:spLocks xmlns:a="http://schemas.openxmlformats.org/drawingml/2006/main" noGrp="1"/>
          </p:cNvSpPr>
          <p:nvPr/>
        </p:nvSpPr>
        <p:spPr>
          <a:xfrm xmlns:a="http://schemas.openxmlformats.org/drawingml/2006/main">
            <a:off x="857250" y="4381500"/>
            <a:ext cx="34861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06878"/>
                </a:solidFill>
                <a:latin typeface="DejaVu Sans"/>
                <a:ea typeface="DejaVu Sans"/>
                <a:cs typeface="DejaVu Sans"/>
              </a:defRPr>
            </a:defPPr>
          </a:lstStyle>
          <a:p xmlns:a="http://schemas.openxmlformats.org/drawingml/2006/main">
            <a:pPr>
              <a:defRPr sz="1725" b="0">
                <a:solidFill>
                  <a:srgbClr val="606878"/>
                </a:solidFill>
                <a:latin typeface="DejaVu Sans"/>
                <a:ea typeface="DejaVu Sans"/>
                <a:cs typeface="DejaVu Sans"/>
              </a:defRPr>
            </a:pPr>
            <a:r>
              <a:rPr sz="1725" b="0">
                <a:solidFill>
                  <a:srgbClr val="606878"/>
                </a:solidFill>
                <a:latin typeface="DejaVu Sans"/>
                <a:ea typeface="DejaVu Sans"/>
                <a:cs typeface="DejaVu Sans"/>
              </a:rPr>
              <a:t>Reusable subject data lives in subjects.</a:t>
            </a:r>
          </a:p>
          <a:p xmlns:a="http://schemas.openxmlformats.org/drawingml/2006/main">
            <a:pPr>
              <a:defRPr sz="1725" b="0">
                <a:solidFill>
                  <a:srgbClr val="606878"/>
                </a:solidFill>
                <a:latin typeface="DejaVu Sans"/>
                <a:ea typeface="DejaVu Sans"/>
                <a:cs typeface="DejaVu Sans"/>
              </a:defRPr>
            </a:pPr>
            <a:r>
              <a:rPr sz="1725" b="0">
                <a:solidFill>
                  <a:srgbClr val="606878"/>
                </a:solidFill>
                <a:latin typeface="DejaVu Sans"/>
                <a:ea typeface="DejaVu Sans"/>
                <a:cs typeface="DejaVu Sans"/>
              </a:rPr>
              <a:t>Preferences use separate junction tables.</a:t>
            </a:r>
          </a:p>
        </p:txBody>
      </p:sp>
      <p:sp>
        <p:nvSpPr>
          <p:cNvPr id="10" name="join_requests">
            <a:extLst xmlns:a="http://schemas.openxmlformats.org/drawingml/2006/main">
              <a:ext uri="{FF2B5EF4-FFF2-40B4-BE49-F238E27FC236}">
                <a16:creationId xmlns:a16="http://schemas.microsoft.com/office/drawing/2014/main" id="{F1AF91E5-3521-4B5E-BC4B-E5BAA97EE9A0}"/>
              </a:ext>
            </a:extLst>
          </p:cNvPr>
          <p:cNvSpPr>
            <a:spLocks xmlns:a="http://schemas.openxmlformats.org/drawingml/2006/main" noGrp="1"/>
          </p:cNvSpPr>
          <p:nvPr/>
        </p:nvSpPr>
        <p:spPr>
          <a:xfrm xmlns:a="http://schemas.openxmlformats.org/drawingml/2006/main">
            <a:off x="7258050" y="4343400"/>
            <a:ext cx="4238625" cy="1638300"/>
          </a:xfrm>
          <a:prstGeom xmlns:a="http://schemas.openxmlformats.org/drawingml/2006/main" prst="rect">
            <a:avLst/>
          </a:prstGeom>
          <a:solidFill xmlns:a="http://schemas.openxmlformats.org/drawingml/2006/main">
            <a:srgbClr val="F3F5F8"/>
          </a:solidFill>
          <a:ln xmlns:a="http://schemas.openxmlformats.org/drawingml/2006/main" w="14288">
            <a:solidFill>
              <a:srgbClr val="262A54"/>
            </a:solidFill>
          </a:ln>
        </p:spPr>
      </p:sp>
      <p:sp>
        <p:nvSpPr>
          <p:cNvPr id="11" name="join_requests">
            <a:extLst xmlns:a="http://schemas.openxmlformats.org/drawingml/2006/main">
              <a:ext uri="{FF2B5EF4-FFF2-40B4-BE49-F238E27FC236}">
                <a16:creationId xmlns:a16="http://schemas.microsoft.com/office/drawing/2014/main" id="{8CECCCC2-AF6E-4617-8A82-6CEA9AEBD6B1}"/>
              </a:ext>
            </a:extLst>
          </p:cNvPr>
          <p:cNvSpPr>
            <a:spLocks xmlns:a="http://schemas.openxmlformats.org/drawingml/2006/main" noGrp="1"/>
          </p:cNvSpPr>
          <p:nvPr/>
        </p:nvSpPr>
        <p:spPr>
          <a:xfrm xmlns:a="http://schemas.openxmlformats.org/drawingml/2006/main">
            <a:off x="7410450" y="4457700"/>
            <a:ext cx="3933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262A54"/>
                </a:solidFill>
                <a:latin typeface="DejaVu Sans"/>
                <a:ea typeface="DejaVu Sans"/>
                <a:cs typeface="DejaVu Sans"/>
              </a:defRPr>
            </a:defPPr>
          </a:lstStyle>
          <a:p xmlns:a="http://schemas.openxmlformats.org/drawingml/2006/main">
            <a:pPr>
              <a:defRPr sz="1875" b="1">
                <a:solidFill>
                  <a:srgbClr val="262A54"/>
                </a:solidFill>
                <a:latin typeface="DejaVu Sans"/>
                <a:ea typeface="DejaVu Sans"/>
                <a:cs typeface="DejaVu Sans"/>
              </a:defRPr>
            </a:pPr>
            <a:r>
              <a:rPr sz="1875" b="1">
                <a:solidFill>
                  <a:srgbClr val="262A54"/>
                </a:solidFill>
                <a:latin typeface="DejaVu Sans"/>
                <a:ea typeface="DejaVu Sans"/>
                <a:cs typeface="DejaVu Sans"/>
              </a:rPr>
              <a:t>join_requests</a:t>
            </a:r>
          </a:p>
        </p:txBody>
      </p:sp>
      <p:sp>
        <p:nvSpPr>
          <p:cNvPr id="12" name="PK request_id&#10;FK group_id · FK applicant_id&#10;answers · status">
            <a:extLst xmlns:a="http://schemas.openxmlformats.org/drawingml/2006/main">
              <a:ext uri="{FF2B5EF4-FFF2-40B4-BE49-F238E27FC236}">
                <a16:creationId xmlns:a16="http://schemas.microsoft.com/office/drawing/2014/main" id="{3673D3F2-90F7-4A03-A996-C74607C732EA}"/>
              </a:ext>
            </a:extLst>
          </p:cNvPr>
          <p:cNvSpPr>
            <a:spLocks xmlns:a="http://schemas.openxmlformats.org/drawingml/2006/main" noGrp="1"/>
          </p:cNvSpPr>
          <p:nvPr/>
        </p:nvSpPr>
        <p:spPr>
          <a:xfrm xmlns:a="http://schemas.openxmlformats.org/drawingml/2006/main">
            <a:off x="7410450" y="4895850"/>
            <a:ext cx="3933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62A54"/>
                </a:solidFill>
                <a:latin typeface="DejaVu Sans"/>
                <a:ea typeface="DejaVu Sans"/>
                <a:cs typeface="DejaVu Sans"/>
              </a:defRPr>
            </a:defPPr>
          </a:lstStyle>
          <a:p xmlns:a="http://schemas.openxmlformats.org/drawingml/2006/main">
            <a:pPr>
              <a:defRPr sz="1500" b="0">
                <a:solidFill>
                  <a:srgbClr val="262A54"/>
                </a:solidFill>
                <a:latin typeface="DejaVu Sans"/>
                <a:ea typeface="DejaVu Sans"/>
                <a:cs typeface="DejaVu Sans"/>
              </a:defRPr>
            </a:pPr>
            <a:r>
              <a:rPr sz="1500" b="0">
                <a:solidFill>
                  <a:srgbClr val="262A54"/>
                </a:solidFill>
                <a:latin typeface="DejaVu Sans"/>
                <a:ea typeface="DejaVu Sans"/>
                <a:cs typeface="DejaVu Sans"/>
              </a:rPr>
              <a:t>PK request_id</a:t>
            </a:r>
          </a:p>
          <a:p xmlns:a="http://schemas.openxmlformats.org/drawingml/2006/main">
            <a:pPr>
              <a:defRPr sz="1500" b="0">
                <a:solidFill>
                  <a:srgbClr val="262A54"/>
                </a:solidFill>
                <a:latin typeface="DejaVu Sans"/>
                <a:ea typeface="DejaVu Sans"/>
                <a:cs typeface="DejaVu Sans"/>
              </a:defRPr>
            </a:pPr>
            <a:r>
              <a:rPr sz="1500" b="0">
                <a:solidFill>
                  <a:srgbClr val="262A54"/>
                </a:solidFill>
                <a:latin typeface="DejaVu Sans"/>
                <a:ea typeface="DejaVu Sans"/>
                <a:cs typeface="DejaVu Sans"/>
              </a:rPr>
              <a:t>FK group_id · FK applicant_id</a:t>
            </a:r>
          </a:p>
          <a:p xmlns:a="http://schemas.openxmlformats.org/drawingml/2006/main">
            <a:pPr>
              <a:defRPr sz="1500" b="0">
                <a:solidFill>
                  <a:srgbClr val="262A54"/>
                </a:solidFill>
                <a:latin typeface="DejaVu Sans"/>
                <a:ea typeface="DejaVu Sans"/>
                <a:cs typeface="DejaVu Sans"/>
              </a:defRPr>
            </a:pPr>
            <a:r>
              <a:rPr sz="1500" b="0">
                <a:solidFill>
                  <a:srgbClr val="262A54"/>
                </a:solidFill>
                <a:latin typeface="DejaVu Sans"/>
                <a:ea typeface="DejaVu Sans"/>
                <a:cs typeface="DejaVu Sans"/>
              </a:rPr>
              <a:t>answers · status</a:t>
            </a:r>
          </a:p>
        </p:txBody>
      </p:sp>
      <p:sp>
        <p:nvSpPr>
          <p:cNvPr id="14" name="1 organizes 0..*">
            <a:extLst xmlns:a="http://schemas.openxmlformats.org/drawingml/2006/main">
              <a:ext uri="{FF2B5EF4-FFF2-40B4-BE49-F238E27FC236}">
                <a16:creationId xmlns:a16="http://schemas.microsoft.com/office/drawing/2014/main" id="{3FEFC10F-33A4-4B39-8E20-EAD8AEFB6D06}"/>
              </a:ext>
            </a:extLst>
          </p:cNvPr>
          <p:cNvSpPr>
            <a:spLocks xmlns:a="http://schemas.openxmlformats.org/drawingml/2006/main" noGrp="1"/>
          </p:cNvSpPr>
          <p:nvPr/>
        </p:nvSpPr>
        <p:spPr>
          <a:xfrm xmlns:a="http://schemas.openxmlformats.org/drawingml/2006/main">
            <a:off x="4714875" y="2466975"/>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262A54"/>
                </a:solidFill>
                <a:latin typeface="DejaVu Sans"/>
                <a:ea typeface="DejaVu Sans"/>
                <a:cs typeface="DejaVu Sans"/>
              </a:defRPr>
            </a:defPPr>
          </a:lstStyle>
          <a:p xmlns:a="http://schemas.openxmlformats.org/drawingml/2006/main">
            <a:pPr>
              <a:defRPr sz="1575" b="0">
                <a:solidFill>
                  <a:srgbClr val="262A54"/>
                </a:solidFill>
                <a:latin typeface="DejaVu Sans"/>
                <a:ea typeface="DejaVu Sans"/>
                <a:cs typeface="DejaVu Sans"/>
              </a:defRPr>
            </a:pPr>
            <a:r>
              <a:rPr sz="1575" b="0">
                <a:solidFill>
                  <a:srgbClr val="262A54"/>
                </a:solidFill>
                <a:latin typeface="DejaVu Sans"/>
                <a:ea typeface="DejaVu Sans"/>
                <a:cs typeface="DejaVu Sans"/>
              </a:rPr>
              <a:t>1 organizes 0..*</a:t>
            </a:r>
          </a:p>
        </p:txBody>
      </p:sp>
      <p:sp>
        <p:nvSpPr>
          <p:cNvPr id="16" name="1 receives 0..*">
            <a:extLst xmlns:a="http://schemas.openxmlformats.org/drawingml/2006/main">
              <a:ext uri="{FF2B5EF4-FFF2-40B4-BE49-F238E27FC236}">
                <a16:creationId xmlns:a16="http://schemas.microsoft.com/office/drawing/2014/main" id="{8E492801-4696-4E15-9581-3AA666ADA9E3}"/>
              </a:ext>
            </a:extLst>
          </p:cNvPr>
          <p:cNvSpPr>
            <a:spLocks xmlns:a="http://schemas.openxmlformats.org/drawingml/2006/main" noGrp="1"/>
          </p:cNvSpPr>
          <p:nvPr/>
        </p:nvSpPr>
        <p:spPr>
          <a:xfrm xmlns:a="http://schemas.openxmlformats.org/drawingml/2006/main">
            <a:off x="9372600" y="3752850"/>
            <a:ext cx="20669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262A54"/>
                </a:solidFill>
                <a:latin typeface="DejaVu Sans"/>
                <a:ea typeface="DejaVu Sans"/>
                <a:cs typeface="DejaVu Sans"/>
              </a:defRPr>
            </a:defPPr>
          </a:lstStyle>
          <a:p xmlns:a="http://schemas.openxmlformats.org/drawingml/2006/main">
            <a:pPr>
              <a:defRPr sz="1425" b="0">
                <a:solidFill>
                  <a:srgbClr val="262A54"/>
                </a:solidFill>
                <a:latin typeface="DejaVu Sans"/>
                <a:ea typeface="DejaVu Sans"/>
                <a:cs typeface="DejaVu Sans"/>
              </a:defRPr>
            </a:pPr>
            <a:r>
              <a:rPr sz="1425" b="0">
                <a:solidFill>
                  <a:srgbClr val="262A54"/>
                </a:solidFill>
                <a:latin typeface="DejaVu Sans"/>
                <a:ea typeface="DejaVu Sans"/>
                <a:cs typeface="DejaVu Sans"/>
              </a:rPr>
              <a:t>1 receives 0..*</a:t>
            </a:r>
          </a:p>
        </p:txBody>
      </p:sp>
      <p:sp>
        <p:nvSpPr>
          <p:cNvPr id="18" name="1 submits 0..*">
            <a:extLst xmlns:a="http://schemas.openxmlformats.org/drawingml/2006/main">
              <a:ext uri="{FF2B5EF4-FFF2-40B4-BE49-F238E27FC236}">
                <a16:creationId xmlns:a16="http://schemas.microsoft.com/office/drawing/2014/main" id="{DB7E1655-0B7A-41CC-9347-560EA56EA0EE}"/>
              </a:ext>
            </a:extLst>
          </p:cNvPr>
          <p:cNvSpPr>
            <a:spLocks xmlns:a="http://schemas.openxmlformats.org/drawingml/2006/main" noGrp="1"/>
          </p:cNvSpPr>
          <p:nvPr/>
        </p:nvSpPr>
        <p:spPr>
          <a:xfrm xmlns:a="http://schemas.openxmlformats.org/drawingml/2006/main">
            <a:off x="4733925" y="3848100"/>
            <a:ext cx="2305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262A54"/>
                </a:solidFill>
                <a:latin typeface="DejaVu Sans"/>
                <a:ea typeface="DejaVu Sans"/>
                <a:cs typeface="DejaVu Sans"/>
              </a:defRPr>
            </a:defPPr>
          </a:lstStyle>
          <a:p xmlns:a="http://schemas.openxmlformats.org/drawingml/2006/main">
            <a:pPr>
              <a:defRPr sz="1425" b="0">
                <a:solidFill>
                  <a:srgbClr val="262A54"/>
                </a:solidFill>
                <a:latin typeface="DejaVu Sans"/>
                <a:ea typeface="DejaVu Sans"/>
                <a:cs typeface="DejaVu Sans"/>
              </a:defRPr>
            </a:pPr>
            <a:r>
              <a:rPr sz="1425" b="0">
                <a:solidFill>
                  <a:srgbClr val="262A54"/>
                </a:solidFill>
                <a:latin typeface="DejaVu Sans"/>
                <a:ea typeface="DejaVu Sans"/>
                <a:cs typeface="DejaVu Sans"/>
              </a:rPr>
              <a:t>1 submits 0..*</a:t>
            </a:r>
          </a:p>
        </p:txBody>
      </p:sp>
      <p:sp>
        <p:nvSpPr>
          <p:cNvPr id="19" name="Full ERD: core data and optional profile in the editable dra">
            <a:extLst xmlns:a="http://schemas.openxmlformats.org/drawingml/2006/main">
              <a:ext uri="{FF2B5EF4-FFF2-40B4-BE49-F238E27FC236}">
                <a16:creationId xmlns:a16="http://schemas.microsoft.com/office/drawing/2014/main" id="{DD3056E3-BC1A-42F1-ACF4-EE1149B02767}"/>
              </a:ext>
            </a:extLst>
          </p:cNvPr>
          <p:cNvSpPr>
            <a:spLocks xmlns:a="http://schemas.openxmlformats.org/drawingml/2006/main" noGrp="1"/>
          </p:cNvSpPr>
          <p:nvPr/>
        </p:nvSpPr>
        <p:spPr>
          <a:xfrm xmlns:a="http://schemas.openxmlformats.org/drawingml/2006/main">
            <a:off x="609600" y="629602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06878"/>
                </a:solidFill>
                <a:latin typeface="DejaVu Sans"/>
                <a:ea typeface="DejaVu Sans"/>
                <a:cs typeface="DejaVu Sans"/>
              </a:defRPr>
            </a:defPPr>
          </a:lstStyle>
          <a:p xmlns:a="http://schemas.openxmlformats.org/drawingml/2006/main">
            <a:pPr>
              <a:defRPr sz="1275" b="0">
                <a:solidFill>
                  <a:srgbClr val="606878"/>
                </a:solidFill>
                <a:latin typeface="DejaVu Sans"/>
                <a:ea typeface="DejaVu Sans"/>
                <a:cs typeface="DejaVu Sans"/>
              </a:defRPr>
            </a:pPr>
            <a:r>
              <a:rPr sz="1275" b="0">
                <a:solidFill>
                  <a:srgbClr val="606878"/>
                </a:solidFill>
                <a:latin typeface="DejaVu Sans"/>
                <a:ea typeface="DejaVu Sans"/>
                <a:cs typeface="DejaVu Sans"/>
              </a:rPr>
              <a:t>Full ERD: core data and optional profile in the editable draw.io file</a:t>
            </a:r>
          </a:p>
        </p:txBody>
      </p:sp>
    </p:spTree>
    <p:extLst>
      <p:ext uri="{BB962C8B-B14F-4D97-AF65-F5344CB8AC3E}">
        <p14:creationId xmlns:p14="http://schemas.microsoft.com/office/powerpoint/2010/main" val="9007770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ormalization and consistency">
            <a:extLst xmlns:a="http://schemas.openxmlformats.org/drawingml/2006/main">
              <a:ext uri="{FF2B5EF4-FFF2-40B4-BE49-F238E27FC236}">
                <a16:creationId xmlns:a16="http://schemas.microsoft.com/office/drawing/2014/main" id="{AB02F2B6-D33B-4CA7-842C-20B394A1950F}"/>
              </a:ext>
            </a:extLst>
          </p:cNvPr>
          <p:cNvSpPr>
            <a:spLocks xmlns:a="http://schemas.openxmlformats.org/drawingml/2006/main" noGrp="1"/>
          </p:cNvSpPr>
          <p:nvPr/>
        </p:nvSpPr>
        <p:spPr>
          <a:xfrm xmlns:a="http://schemas.openxmlformats.org/drawingml/2006/main">
            <a:off x="609600" y="476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262A54"/>
                </a:solidFill>
                <a:latin typeface="DejaVu Sans"/>
                <a:ea typeface="DejaVu Sans"/>
                <a:cs typeface="DejaVu Sans"/>
              </a:defRPr>
            </a:defPPr>
          </a:lstStyle>
          <a:p xmlns:a="http://schemas.openxmlformats.org/drawingml/2006/main">
            <a:pPr>
              <a:defRPr sz="3225" b="1">
                <a:solidFill>
                  <a:srgbClr val="262A54"/>
                </a:solidFill>
                <a:latin typeface="DejaVu Sans"/>
                <a:ea typeface="DejaVu Sans"/>
                <a:cs typeface="DejaVu Sans"/>
              </a:defRPr>
            </a:pPr>
            <a:r>
              <a:rPr sz="3225" b="1">
                <a:solidFill>
                  <a:srgbClr val="262A54"/>
                </a:solidFill>
                <a:latin typeface="DejaVu Sans"/>
                <a:ea typeface="DejaVu Sans"/>
                <a:cs typeface="DejaVu Sans"/>
              </a:rPr>
              <a:t>Normalization and consistency</a:t>
            </a:r>
          </a:p>
        </p:txBody>
      </p:sp>
      <p:sp>
        <p:nvSpPr>
          <p:cNvPr id="2" name="09">
            <a:extLst xmlns:a="http://schemas.openxmlformats.org/drawingml/2006/main">
              <a:ext uri="{FF2B5EF4-FFF2-40B4-BE49-F238E27FC236}">
                <a16:creationId xmlns:a16="http://schemas.microsoft.com/office/drawing/2014/main" id="{69676B70-011F-4CEA-8271-272FDA63503B}"/>
              </a:ext>
            </a:extLst>
          </p:cNvPr>
          <p:cNvSpPr>
            <a:spLocks xmlns:a="http://schemas.openxmlformats.org/drawingml/2006/main" noGrp="1"/>
          </p:cNvSpPr>
          <p:nvPr/>
        </p:nvSpPr>
        <p:spPr>
          <a:xfrm xmlns:a="http://schemas.openxmlformats.org/drawingml/2006/main">
            <a:off x="11334750" y="6257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06878"/>
                </a:solidFill>
                <a:latin typeface="DejaVu Sans"/>
                <a:ea typeface="DejaVu Sans"/>
                <a:cs typeface="DejaVu Sans"/>
              </a:defRPr>
            </a:defPPr>
          </a:lstStyle>
          <a:p xmlns:a="http://schemas.openxmlformats.org/drawingml/2006/main">
            <a:pPr>
              <a:defRPr sz="1200" b="0">
                <a:solidFill>
                  <a:srgbClr val="606878"/>
                </a:solidFill>
                <a:latin typeface="DejaVu Sans"/>
                <a:ea typeface="DejaVu Sans"/>
                <a:cs typeface="DejaVu Sans"/>
              </a:defRPr>
            </a:pPr>
            <a:r>
              <a:rPr sz="1200" b="0">
                <a:solidFill>
                  <a:srgbClr val="606878"/>
                </a:solidFill>
                <a:latin typeface="DejaVu Sans"/>
                <a:ea typeface="DejaVu Sans"/>
                <a:cs typeface="DejaVu Sans"/>
              </a:rPr>
              <a:t>09</a:t>
            </a:r>
          </a:p>
        </p:txBody>
      </p:sp>
      <p:graphicFrame>
        <p:nvGraphicFramePr>
          <p:cNvPr id="3" name="">
            <a:extLst xmlns:a="http://schemas.openxmlformats.org/drawingml/2006/main">
              <a:ext uri="{FF2B5EF4-FFF2-40B4-BE49-F238E27FC236}">
                <a16:creationId xmlns:a16="http://schemas.microsoft.com/office/drawing/2014/main" id="{8320B4F9-BCDD-4040-A9F6-6893F7152C32}"/>
              </a:ext>
            </a:extLst>
          </p:cNvPr>
          <p:cNvGraphicFramePr/>
          <p:nvPr/>
        </p:nvGraphicFramePr>
        <p:xfrm>
          <a:off xmlns:a="http://schemas.openxmlformats.org/drawingml/2006/main" x="609600" y="1771650"/>
          <a:ext xmlns:a="http://schemas.openxmlformats.org/drawingml/2006/main" cx="10896600" cy="2495550"/>
        </p:xfrm>
        <a:graphic xmlns:a="http://schemas.openxmlformats.org/drawingml/2006/main">
          <a:graphicData uri="http://schemas.openxmlformats.org/drawingml/2006/table">
            <a:tbl>
              <a:tblPr/>
              <a:tblGrid>
                <a:gridCol w="3981450"/>
                <a:gridCol w="6915150"/>
              </a:tblGrid>
              <a:tr h="623888">
                <a:tc>
                  <a:txBody>
                    <a:bodyPr lIns="114300" tIns="114300" rIns="114300" bIns="114300"/>
                    <a:lstStyle/>
                    <a:p>
                      <a:r>
                        <a:rPr sz="1875" b="1">
                          <a:solidFill>
                            <a:srgbClr val="FFFFFF"/>
                          </a:solidFill>
                          <a:latin typeface="DejaVu Sans"/>
                          <a:ea typeface="DejaVu Sans"/>
                          <a:cs typeface="DejaVu Sans"/>
                        </a:rPr>
                        <a:t>UI field</a:t>
                      </a:r>
                    </a:p>
                  </a:txBody>
                  <a:tcPr marL="91440" marR="91440" marT="45720" marB="45720">
                    <a:solidFill>
                      <a:srgbClr val="262A54"/>
                    </a:solidFill>
                  </a:tcPr>
                </a:tc>
                <a:tc>
                  <a:txBody>
                    <a:bodyPr lIns="114300" tIns="114300" rIns="114300" bIns="114300"/>
                    <a:lstStyle/>
                    <a:p>
                      <a:r>
                        <a:rPr sz="1875" b="1">
                          <a:solidFill>
                            <a:srgbClr val="FFFFFF"/>
                          </a:solidFill>
                          <a:latin typeface="DejaVu Sans"/>
                          <a:ea typeface="DejaVu Sans"/>
                          <a:cs typeface="DejaVu Sans"/>
                        </a:rPr>
                        <a:t>Database attribute</a:t>
                      </a:r>
                    </a:p>
                  </a:txBody>
                  <a:tcPr marL="91440" marR="91440" marT="45720" marB="45720">
                    <a:solidFill>
                      <a:srgbClr val="262A54"/>
                    </a:solidFill>
                  </a:tcPr>
                </a:tc>
              </a:tr>
              <a:tr h="623888">
                <a:tc>
                  <a:txBody>
                    <a:bodyPr lIns="114300" tIns="114300" rIns="114300" bIns="114300"/>
                    <a:lstStyle/>
                    <a:p>
                      <a:r>
                        <a:rPr sz="1875" b="0">
                          <a:solidFill>
                            <a:srgbClr val="262A54"/>
                          </a:solidFill>
                          <a:latin typeface="DejaVu Sans"/>
                          <a:ea typeface="DejaVu Sans"/>
                          <a:cs typeface="DejaVu Sans"/>
                        </a:rPr>
                        <a:t>Group subject</a:t>
                      </a:r>
                    </a:p>
                  </a:txBody>
                  <a:tcPr marL="91440" marR="91440" marT="45720" marB="45720">
                    <a:solidFill>
                      <a:srgbClr val="FFFFFF"/>
                    </a:solidFill>
                  </a:tcPr>
                </a:tc>
                <a:tc>
                  <a:txBody>
                    <a:bodyPr lIns="114300" tIns="114300" rIns="114300" bIns="114300"/>
                    <a:lstStyle/>
                    <a:p>
                      <a:r>
                        <a:rPr sz="1875" b="0">
                          <a:solidFill>
                            <a:srgbClr val="262A54"/>
                          </a:solidFill>
                          <a:latin typeface="DejaVu Sans"/>
                          <a:ea typeface="DejaVu Sans"/>
                          <a:cs typeface="DejaVu Sans"/>
                        </a:rPr>
                        <a:t>study_groups.subject_id</a:t>
                      </a:r>
                    </a:p>
                  </a:txBody>
                  <a:tcPr marL="91440" marR="91440" marT="45720" marB="45720">
                    <a:solidFill>
                      <a:srgbClr val="FFFFFF"/>
                    </a:solidFill>
                  </a:tcPr>
                </a:tc>
              </a:tr>
              <a:tr h="623888">
                <a:tc>
                  <a:txBody>
                    <a:bodyPr lIns="114300" tIns="114300" rIns="114300" bIns="114300"/>
                    <a:lstStyle/>
                    <a:p>
                      <a:r>
                        <a:rPr sz="1875" b="0">
                          <a:solidFill>
                            <a:srgbClr val="262A54"/>
                          </a:solidFill>
                          <a:latin typeface="DejaVu Sans"/>
                          <a:ea typeface="DejaVu Sans"/>
                          <a:cs typeface="DejaVu Sans"/>
                        </a:rPr>
                        <a:t>Applicant level</a:t>
                      </a:r>
                    </a:p>
                  </a:txBody>
                  <a:tcPr marL="91440" marR="91440" marT="45720" marB="45720">
                    <a:solidFill>
                      <a:srgbClr val="F0F3F7"/>
                    </a:solidFill>
                  </a:tcPr>
                </a:tc>
                <a:tc>
                  <a:txBody>
                    <a:bodyPr lIns="114300" tIns="114300" rIns="114300" bIns="114300"/>
                    <a:lstStyle/>
                    <a:p>
                      <a:r>
                        <a:rPr sz="1875" b="0">
                          <a:solidFill>
                            <a:srgbClr val="262A54"/>
                          </a:solidFill>
                          <a:latin typeface="DejaVu Sans"/>
                          <a:ea typeface="DejaVu Sans"/>
                          <a:cs typeface="DejaVu Sans"/>
                        </a:rPr>
                        <a:t>join_requests.answer_level</a:t>
                      </a:r>
                    </a:p>
                  </a:txBody>
                  <a:tcPr marL="91440" marR="91440" marT="45720" marB="45720">
                    <a:solidFill>
                      <a:srgbClr val="F0F3F7"/>
                    </a:solidFill>
                  </a:tcPr>
                </a:tc>
              </a:tr>
              <a:tr h="623888">
                <a:tc>
                  <a:txBody>
                    <a:bodyPr lIns="114300" tIns="114300" rIns="114300" bIns="114300"/>
                    <a:lstStyle/>
                    <a:p>
                      <a:r>
                        <a:rPr sz="1875" b="0">
                          <a:solidFill>
                            <a:srgbClr val="262A54"/>
                          </a:solidFill>
                          <a:latin typeface="DejaVu Sans"/>
                          <a:ea typeface="DejaVu Sans"/>
                          <a:cs typeface="DejaVu Sans"/>
                        </a:rPr>
                        <a:t>Request status</a:t>
                      </a:r>
                    </a:p>
                  </a:txBody>
                  <a:tcPr marL="91440" marR="91440" marT="45720" marB="45720">
                    <a:solidFill>
                      <a:srgbClr val="FFFFFF"/>
                    </a:solidFill>
                  </a:tcPr>
                </a:tc>
                <a:tc>
                  <a:txBody>
                    <a:bodyPr lIns="114300" tIns="114300" rIns="114300" bIns="114300"/>
                    <a:lstStyle/>
                    <a:p>
                      <a:r>
                        <a:rPr sz="1875" b="0">
                          <a:solidFill>
                            <a:srgbClr val="262A54"/>
                          </a:solidFill>
                          <a:latin typeface="DejaVu Sans"/>
                          <a:ea typeface="DejaVu Sans"/>
                          <a:cs typeface="DejaVu Sans"/>
                        </a:rPr>
                        <a:t>join_requests.status</a:t>
                      </a:r>
                    </a:p>
                  </a:txBody>
                  <a:tcPr marL="91440" marR="91440" marT="45720" marB="45720">
                    <a:solidFill>
                      <a:srgbClr val="FFFFFF"/>
                    </a:solidFill>
                  </a:tcPr>
                </a:tc>
              </a:tr>
            </a:tbl>
          </a:graphicData>
        </a:graphic>
      </p:graphicFrame>
      <p:sp>
        <p:nvSpPr>
          <p:cNvPr id="4" name="Subjects and preference labels have separate tables">
            <a:extLst xmlns:a="http://schemas.openxmlformats.org/drawingml/2006/main">
              <a:ext uri="{FF2B5EF4-FFF2-40B4-BE49-F238E27FC236}">
                <a16:creationId xmlns:a16="http://schemas.microsoft.com/office/drawing/2014/main" id="{7112F8DA-EA3D-418D-98FE-8D89BCFC5862}"/>
              </a:ext>
            </a:extLst>
          </p:cNvPr>
          <p:cNvSpPr>
            <a:spLocks xmlns:a="http://schemas.openxmlformats.org/drawingml/2006/main" noGrp="1"/>
          </p:cNvSpPr>
          <p:nvPr/>
        </p:nvSpPr>
        <p:spPr>
          <a:xfrm xmlns:a="http://schemas.openxmlformats.org/drawingml/2006/main">
            <a:off x="609600" y="46101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62A54"/>
                </a:solidFill>
                <a:latin typeface="DejaVu Sans"/>
                <a:ea typeface="DejaVu Sans"/>
                <a:cs typeface="DejaVu Sans"/>
              </a:defRPr>
            </a:defPPr>
          </a:lstStyle>
          <a:p xmlns:a="http://schemas.openxmlformats.org/drawingml/2006/main">
            <a:pPr>
              <a:defRPr sz="2025" b="0">
                <a:solidFill>
                  <a:srgbClr val="262A54"/>
                </a:solidFill>
                <a:latin typeface="DejaVu Sans"/>
                <a:ea typeface="DejaVu Sans"/>
                <a:cs typeface="DejaVu Sans"/>
              </a:defRPr>
            </a:pPr>
            <a:r>
              <a:rPr sz="2025" b="0">
                <a:solidFill>
                  <a:srgbClr val="262A54"/>
                </a:solidFill>
                <a:latin typeface="DejaVu Sans"/>
                <a:ea typeface="DejaVu Sans"/>
                <a:cs typeface="DejaVu Sans"/>
              </a:rPr>
              <a:t>Subjects and preference labels have separate tables</a:t>
            </a:r>
          </a:p>
        </p:txBody>
      </p:sp>
      <p:sp>
        <p:nvSpPr>
          <p:cNvPr id="5" name="Junction tables keep multiple preferences in separate rows">
            <a:extLst xmlns:a="http://schemas.openxmlformats.org/drawingml/2006/main">
              <a:ext uri="{FF2B5EF4-FFF2-40B4-BE49-F238E27FC236}">
                <a16:creationId xmlns:a16="http://schemas.microsoft.com/office/drawing/2014/main" id="{9E662720-4D7D-47B2-A1D0-8D40A0DAFFAA}"/>
              </a:ext>
            </a:extLst>
          </p:cNvPr>
          <p:cNvSpPr>
            <a:spLocks xmlns:a="http://schemas.openxmlformats.org/drawingml/2006/main" noGrp="1"/>
          </p:cNvSpPr>
          <p:nvPr/>
        </p:nvSpPr>
        <p:spPr>
          <a:xfrm xmlns:a="http://schemas.openxmlformats.org/drawingml/2006/main">
            <a:off x="609600" y="52673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62A54"/>
                </a:solidFill>
                <a:latin typeface="DejaVu Sans"/>
                <a:ea typeface="DejaVu Sans"/>
                <a:cs typeface="DejaVu Sans"/>
              </a:defRPr>
            </a:defPPr>
          </a:lstStyle>
          <a:p xmlns:a="http://schemas.openxmlformats.org/drawingml/2006/main">
            <a:pPr>
              <a:defRPr sz="2025" b="0">
                <a:solidFill>
                  <a:srgbClr val="262A54"/>
                </a:solidFill>
                <a:latin typeface="DejaVu Sans"/>
                <a:ea typeface="DejaVu Sans"/>
                <a:cs typeface="DejaVu Sans"/>
              </a:defRPr>
            </a:pPr>
            <a:r>
              <a:rPr sz="2025" b="0">
                <a:solidFill>
                  <a:srgbClr val="262A54"/>
                </a:solidFill>
                <a:latin typeface="DejaVu Sans"/>
                <a:ea typeface="DejaVu Sans"/>
                <a:cs typeface="DejaVu Sans"/>
              </a:rPr>
              <a:t>Junction tables keep multiple preferences in separate rows</a:t>
            </a:r>
          </a:p>
        </p:txBody>
      </p:sp>
    </p:spTree>
    <p:extLst>
      <p:ext uri="{BB962C8B-B14F-4D97-AF65-F5344CB8AC3E}">
        <p14:creationId xmlns:p14="http://schemas.microsoft.com/office/powerpoint/2010/main" val="2992519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mpatibility calculation">
            <a:extLst xmlns:a="http://schemas.openxmlformats.org/drawingml/2006/main">
              <a:ext uri="{FF2B5EF4-FFF2-40B4-BE49-F238E27FC236}">
                <a16:creationId xmlns:a16="http://schemas.microsoft.com/office/drawing/2014/main" id="{51206815-74B2-4C9E-AF3A-3486D5EB04D6}"/>
              </a:ext>
            </a:extLst>
          </p:cNvPr>
          <p:cNvSpPr>
            <a:spLocks xmlns:a="http://schemas.openxmlformats.org/drawingml/2006/main" noGrp="1"/>
          </p:cNvSpPr>
          <p:nvPr/>
        </p:nvSpPr>
        <p:spPr>
          <a:xfrm xmlns:a="http://schemas.openxmlformats.org/drawingml/2006/main">
            <a:off x="609600" y="476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262A54"/>
                </a:solidFill>
                <a:latin typeface="DejaVu Sans"/>
                <a:ea typeface="DejaVu Sans"/>
                <a:cs typeface="DejaVu Sans"/>
              </a:defRPr>
            </a:defPPr>
          </a:lstStyle>
          <a:p xmlns:a="http://schemas.openxmlformats.org/drawingml/2006/main">
            <a:pPr>
              <a:defRPr sz="3225" b="1">
                <a:solidFill>
                  <a:srgbClr val="262A54"/>
                </a:solidFill>
                <a:latin typeface="DejaVu Sans"/>
                <a:ea typeface="DejaVu Sans"/>
                <a:cs typeface="DejaVu Sans"/>
              </a:defRPr>
            </a:pPr>
            <a:r>
              <a:rPr sz="3225" b="1">
                <a:solidFill>
                  <a:srgbClr val="262A54"/>
                </a:solidFill>
                <a:latin typeface="DejaVu Sans"/>
                <a:ea typeface="DejaVu Sans"/>
                <a:cs typeface="DejaVu Sans"/>
              </a:rPr>
              <a:t>Compatibility calculation</a:t>
            </a:r>
          </a:p>
        </p:txBody>
      </p:sp>
      <p:sp>
        <p:nvSpPr>
          <p:cNvPr id="2" name="10">
            <a:extLst xmlns:a="http://schemas.openxmlformats.org/drawingml/2006/main">
              <a:ext uri="{FF2B5EF4-FFF2-40B4-BE49-F238E27FC236}">
                <a16:creationId xmlns:a16="http://schemas.microsoft.com/office/drawing/2014/main" id="{84059B5A-3A67-4D72-97F5-0352279FB473}"/>
              </a:ext>
            </a:extLst>
          </p:cNvPr>
          <p:cNvSpPr>
            <a:spLocks xmlns:a="http://schemas.openxmlformats.org/drawingml/2006/main" noGrp="1"/>
          </p:cNvSpPr>
          <p:nvPr/>
        </p:nvSpPr>
        <p:spPr>
          <a:xfrm xmlns:a="http://schemas.openxmlformats.org/drawingml/2006/main">
            <a:off x="11334750" y="6257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06878"/>
                </a:solidFill>
                <a:latin typeface="DejaVu Sans"/>
                <a:ea typeface="DejaVu Sans"/>
                <a:cs typeface="DejaVu Sans"/>
              </a:defRPr>
            </a:defPPr>
          </a:lstStyle>
          <a:p xmlns:a="http://schemas.openxmlformats.org/drawingml/2006/main">
            <a:pPr>
              <a:defRPr sz="1200" b="0">
                <a:solidFill>
                  <a:srgbClr val="606878"/>
                </a:solidFill>
                <a:latin typeface="DejaVu Sans"/>
                <a:ea typeface="DejaVu Sans"/>
                <a:cs typeface="DejaVu Sans"/>
              </a:defRPr>
            </a:pPr>
            <a:r>
              <a:rPr sz="1200" b="0">
                <a:solidFill>
                  <a:srgbClr val="606878"/>
                </a:solidFill>
                <a:latin typeface="DejaVu Sans"/>
                <a:ea typeface="DejaVu Sans"/>
                <a:cs typeface="DejaVu Sans"/>
              </a:rPr>
              <a:t>10</a:t>
            </a:r>
          </a:p>
        </p:txBody>
      </p:sp>
      <p:graphicFrame>
        <p:nvGraphicFramePr>
          <p:cNvPr id="3" name="">
            <a:extLst xmlns:a="http://schemas.openxmlformats.org/drawingml/2006/main">
              <a:ext uri="{FF2B5EF4-FFF2-40B4-BE49-F238E27FC236}">
                <a16:creationId xmlns:a16="http://schemas.microsoft.com/office/drawing/2014/main" id="{79F81F41-B191-40B2-B17F-02E9D9A0686B}"/>
              </a:ext>
            </a:extLst>
          </p:cNvPr>
          <p:cNvGraphicFramePr/>
          <p:nvPr/>
        </p:nvGraphicFramePr>
        <p:xfrm>
          <a:off xmlns:a="http://schemas.openxmlformats.org/drawingml/2006/main" x="609600" y="1714500"/>
          <a:ext xmlns:a="http://schemas.openxmlformats.org/drawingml/2006/main" cx="7305675" cy="3476625"/>
        </p:xfrm>
        <a:graphic xmlns:a="http://schemas.openxmlformats.org/drawingml/2006/main">
          <a:graphicData uri="http://schemas.openxmlformats.org/drawingml/2006/table">
            <a:tbl>
              <a:tblPr/>
              <a:tblGrid>
                <a:gridCol w="3352800"/>
                <a:gridCol w="1647825"/>
                <a:gridCol w="2305050"/>
              </a:tblGrid>
              <a:tr h="695325">
                <a:tc>
                  <a:txBody>
                    <a:bodyPr lIns="114300" tIns="114300" rIns="114300" bIns="114300"/>
                    <a:lstStyle/>
                    <a:p>
                      <a:r>
                        <a:rPr sz="1875" b="1">
                          <a:solidFill>
                            <a:srgbClr val="FFFFFF"/>
                          </a:solidFill>
                          <a:latin typeface="DejaVu Sans"/>
                          <a:ea typeface="DejaVu Sans"/>
                          <a:cs typeface="DejaVu Sans"/>
                        </a:rPr>
                        <a:t>Component</a:t>
                      </a:r>
                    </a:p>
                  </a:txBody>
                  <a:tcPr marL="91440" marR="91440" marT="45720" marB="45720">
                    <a:solidFill>
                      <a:srgbClr val="262A54"/>
                    </a:solidFill>
                  </a:tcPr>
                </a:tc>
                <a:tc>
                  <a:txBody>
                    <a:bodyPr lIns="114300" tIns="114300" rIns="114300" bIns="114300"/>
                    <a:lstStyle/>
                    <a:p>
                      <a:r>
                        <a:rPr sz="1875" b="1">
                          <a:solidFill>
                            <a:srgbClr val="FFFFFF"/>
                          </a:solidFill>
                          <a:latin typeface="DejaVu Sans"/>
                          <a:ea typeface="DejaVu Sans"/>
                          <a:cs typeface="DejaVu Sans"/>
                        </a:rPr>
                        <a:t>Weight</a:t>
                      </a:r>
                    </a:p>
                  </a:txBody>
                  <a:tcPr marL="91440" marR="91440" marT="45720" marB="45720">
                    <a:solidFill>
                      <a:srgbClr val="262A54"/>
                    </a:solidFill>
                  </a:tcPr>
                </a:tc>
                <a:tc>
                  <a:txBody>
                    <a:bodyPr lIns="114300" tIns="114300" rIns="114300" bIns="114300"/>
                    <a:lstStyle/>
                    <a:p>
                      <a:r>
                        <a:rPr sz="1875" b="1">
                          <a:solidFill>
                            <a:srgbClr val="FFFFFF"/>
                          </a:solidFill>
                          <a:latin typeface="DejaVu Sans"/>
                          <a:ea typeface="DejaVu Sans"/>
                          <a:cs typeface="DejaVu Sans"/>
                        </a:rPr>
                        <a:t>Demo result</a:t>
                      </a:r>
                    </a:p>
                  </a:txBody>
                  <a:tcPr marL="91440" marR="91440" marT="45720" marB="45720">
                    <a:solidFill>
                      <a:srgbClr val="262A54"/>
                    </a:solidFill>
                  </a:tcPr>
                </a:tc>
              </a:tr>
              <a:tr h="695325">
                <a:tc>
                  <a:txBody>
                    <a:bodyPr lIns="114300" tIns="114300" rIns="114300" bIns="114300"/>
                    <a:lstStyle/>
                    <a:p>
                      <a:r>
                        <a:rPr sz="1875" b="0">
                          <a:solidFill>
                            <a:srgbClr val="262A54"/>
                          </a:solidFill>
                          <a:latin typeface="DejaVu Sans"/>
                          <a:ea typeface="DejaVu Sans"/>
                          <a:cs typeface="DejaVu Sans"/>
                        </a:rPr>
                        <a:t>Subject</a:t>
                      </a:r>
                    </a:p>
                  </a:txBody>
                  <a:tcPr marL="91440" marR="91440" marT="45720" marB="45720">
                    <a:solidFill>
                      <a:srgbClr val="FFFFFF"/>
                    </a:solidFill>
                  </a:tcPr>
                </a:tc>
                <a:tc>
                  <a:txBody>
                    <a:bodyPr lIns="114300" tIns="114300" rIns="114300" bIns="114300"/>
                    <a:lstStyle/>
                    <a:p>
                      <a:r>
                        <a:rPr sz="1875" b="0">
                          <a:solidFill>
                            <a:srgbClr val="262A54"/>
                          </a:solidFill>
                          <a:latin typeface="DejaVu Sans"/>
                          <a:ea typeface="DejaVu Sans"/>
                          <a:cs typeface="DejaVu Sans"/>
                        </a:rPr>
                        <a:t>40</a:t>
                      </a:r>
                    </a:p>
                  </a:txBody>
                  <a:tcPr marL="91440" marR="91440" marT="45720" marB="45720">
                    <a:solidFill>
                      <a:srgbClr val="FFFFFF"/>
                    </a:solidFill>
                  </a:tcPr>
                </a:tc>
                <a:tc>
                  <a:txBody>
                    <a:bodyPr lIns="114300" tIns="114300" rIns="114300" bIns="114300"/>
                    <a:lstStyle/>
                    <a:p>
                      <a:r>
                        <a:rPr sz="1875" b="0">
                          <a:solidFill>
                            <a:srgbClr val="262A54"/>
                          </a:solidFill>
                          <a:latin typeface="DejaVu Sans"/>
                          <a:ea typeface="DejaVu Sans"/>
                          <a:cs typeface="DejaVu Sans"/>
                        </a:rPr>
                        <a:t>40</a:t>
                      </a:r>
                    </a:p>
                  </a:txBody>
                  <a:tcPr marL="91440" marR="91440" marT="45720" marB="45720">
                    <a:solidFill>
                      <a:srgbClr val="FFFFFF"/>
                    </a:solidFill>
                  </a:tcPr>
                </a:tc>
              </a:tr>
              <a:tr h="695325">
                <a:tc>
                  <a:txBody>
                    <a:bodyPr lIns="114300" tIns="114300" rIns="114300" bIns="114300"/>
                    <a:lstStyle/>
                    <a:p>
                      <a:r>
                        <a:rPr sz="1875" b="0">
                          <a:solidFill>
                            <a:srgbClr val="262A54"/>
                          </a:solidFill>
                          <a:latin typeface="DejaVu Sans"/>
                          <a:ea typeface="DejaVu Sans"/>
                          <a:cs typeface="DejaVu Sans"/>
                        </a:rPr>
                        <a:t>Time</a:t>
                      </a:r>
                    </a:p>
                  </a:txBody>
                  <a:tcPr marL="91440" marR="91440" marT="45720" marB="45720">
                    <a:solidFill>
                      <a:srgbClr val="F0F3F7"/>
                    </a:solidFill>
                  </a:tcPr>
                </a:tc>
                <a:tc>
                  <a:txBody>
                    <a:bodyPr lIns="114300" tIns="114300" rIns="114300" bIns="114300"/>
                    <a:lstStyle/>
                    <a:p>
                      <a:r>
                        <a:rPr sz="1875" b="0">
                          <a:solidFill>
                            <a:srgbClr val="262A54"/>
                          </a:solidFill>
                          <a:latin typeface="DejaVu Sans"/>
                          <a:ea typeface="DejaVu Sans"/>
                          <a:cs typeface="DejaVu Sans"/>
                        </a:rPr>
                        <a:t>30</a:t>
                      </a:r>
                    </a:p>
                  </a:txBody>
                  <a:tcPr marL="91440" marR="91440" marT="45720" marB="45720">
                    <a:solidFill>
                      <a:srgbClr val="F0F3F7"/>
                    </a:solidFill>
                  </a:tcPr>
                </a:tc>
                <a:tc>
                  <a:txBody>
                    <a:bodyPr lIns="114300" tIns="114300" rIns="114300" bIns="114300"/>
                    <a:lstStyle/>
                    <a:p>
                      <a:r>
                        <a:rPr sz="1875" b="0">
                          <a:solidFill>
                            <a:srgbClr val="262A54"/>
                          </a:solidFill>
                          <a:latin typeface="DejaVu Sans"/>
                          <a:ea typeface="DejaVu Sans"/>
                          <a:cs typeface="DejaVu Sans"/>
                        </a:rPr>
                        <a:t>30</a:t>
                      </a:r>
                    </a:p>
                  </a:txBody>
                  <a:tcPr marL="91440" marR="91440" marT="45720" marB="45720">
                    <a:solidFill>
                      <a:srgbClr val="F0F3F7"/>
                    </a:solidFill>
                  </a:tcPr>
                </a:tc>
              </a:tr>
              <a:tr h="695325">
                <a:tc>
                  <a:txBody>
                    <a:bodyPr lIns="114300" tIns="114300" rIns="114300" bIns="114300"/>
                    <a:lstStyle/>
                    <a:p>
                      <a:r>
                        <a:rPr sz="1875" b="0">
                          <a:solidFill>
                            <a:srgbClr val="262A54"/>
                          </a:solidFill>
                          <a:latin typeface="DejaVu Sans"/>
                          <a:ea typeface="DejaVu Sans"/>
                          <a:cs typeface="DejaVu Sans"/>
                        </a:rPr>
                        <a:t>Knowledge level</a:t>
                      </a:r>
                    </a:p>
                  </a:txBody>
                  <a:tcPr marL="91440" marR="91440" marT="45720" marB="45720">
                    <a:solidFill>
                      <a:srgbClr val="FFFFFF"/>
                    </a:solidFill>
                  </a:tcPr>
                </a:tc>
                <a:tc>
                  <a:txBody>
                    <a:bodyPr lIns="114300" tIns="114300" rIns="114300" bIns="114300"/>
                    <a:lstStyle/>
                    <a:p>
                      <a:r>
                        <a:rPr sz="1875" b="0">
                          <a:solidFill>
                            <a:srgbClr val="262A54"/>
                          </a:solidFill>
                          <a:latin typeface="DejaVu Sans"/>
                          <a:ea typeface="DejaVu Sans"/>
                          <a:cs typeface="DejaVu Sans"/>
                        </a:rPr>
                        <a:t>20</a:t>
                      </a:r>
                    </a:p>
                  </a:txBody>
                  <a:tcPr marL="91440" marR="91440" marT="45720" marB="45720">
                    <a:solidFill>
                      <a:srgbClr val="FFFFFF"/>
                    </a:solidFill>
                  </a:tcPr>
                </a:tc>
                <a:tc>
                  <a:txBody>
                    <a:bodyPr lIns="114300" tIns="114300" rIns="114300" bIns="114300"/>
                    <a:lstStyle/>
                    <a:p>
                      <a:r>
                        <a:rPr sz="1875" b="0">
                          <a:solidFill>
                            <a:srgbClr val="262A54"/>
                          </a:solidFill>
                          <a:latin typeface="DejaVu Sans"/>
                          <a:ea typeface="DejaVu Sans"/>
                          <a:cs typeface="DejaVu Sans"/>
                        </a:rPr>
                        <a:t>0</a:t>
                      </a:r>
                    </a:p>
                  </a:txBody>
                  <a:tcPr marL="91440" marR="91440" marT="45720" marB="45720">
                    <a:solidFill>
                      <a:srgbClr val="FFFFFF"/>
                    </a:solidFill>
                  </a:tcPr>
                </a:tc>
              </a:tr>
              <a:tr h="695325">
                <a:tc>
                  <a:txBody>
                    <a:bodyPr lIns="114300" tIns="114300" rIns="114300" bIns="114300"/>
                    <a:lstStyle/>
                    <a:p>
                      <a:r>
                        <a:rPr sz="1875" b="0">
                          <a:solidFill>
                            <a:srgbClr val="262A54"/>
                          </a:solidFill>
                          <a:latin typeface="DejaVu Sans"/>
                          <a:ea typeface="DejaVu Sans"/>
                          <a:cs typeface="DejaVu Sans"/>
                        </a:rPr>
                        <a:t>Optional preferences</a:t>
                      </a:r>
                    </a:p>
                  </a:txBody>
                  <a:tcPr marL="91440" marR="91440" marT="45720" marB="45720">
                    <a:solidFill>
                      <a:srgbClr val="F0F3F7"/>
                    </a:solidFill>
                  </a:tcPr>
                </a:tc>
                <a:tc>
                  <a:txBody>
                    <a:bodyPr lIns="114300" tIns="114300" rIns="114300" bIns="114300"/>
                    <a:lstStyle/>
                    <a:p>
                      <a:r>
                        <a:rPr sz="1875" b="0">
                          <a:solidFill>
                            <a:srgbClr val="262A54"/>
                          </a:solidFill>
                          <a:latin typeface="DejaVu Sans"/>
                          <a:ea typeface="DejaVu Sans"/>
                          <a:cs typeface="DejaVu Sans"/>
                        </a:rPr>
                        <a:t>10</a:t>
                      </a:r>
                    </a:p>
                  </a:txBody>
                  <a:tcPr marL="91440" marR="91440" marT="45720" marB="45720">
                    <a:solidFill>
                      <a:srgbClr val="F0F3F7"/>
                    </a:solidFill>
                  </a:tcPr>
                </a:tc>
                <a:tc>
                  <a:txBody>
                    <a:bodyPr lIns="114300" tIns="114300" rIns="114300" bIns="114300"/>
                    <a:lstStyle/>
                    <a:p>
                      <a:r>
                        <a:rPr sz="1875" b="0">
                          <a:solidFill>
                            <a:srgbClr val="262A54"/>
                          </a:solidFill>
                          <a:latin typeface="DejaVu Sans"/>
                          <a:ea typeface="DejaVu Sans"/>
                          <a:cs typeface="DejaVu Sans"/>
                        </a:rPr>
                        <a:t>0</a:t>
                      </a:r>
                    </a:p>
                  </a:txBody>
                  <a:tcPr marL="91440" marR="91440" marT="45720" marB="45720">
                    <a:solidFill>
                      <a:srgbClr val="F0F3F7"/>
                    </a:solidFill>
                  </a:tcPr>
                </a:tc>
              </a:tr>
            </a:tbl>
          </a:graphicData>
        </a:graphic>
      </p:graphicFrame>
      <p:sp>
        <p:nvSpPr>
          <p:cNvPr id="4" name="70%">
            <a:extLst xmlns:a="http://schemas.openxmlformats.org/drawingml/2006/main">
              <a:ext uri="{FF2B5EF4-FFF2-40B4-BE49-F238E27FC236}">
                <a16:creationId xmlns:a16="http://schemas.microsoft.com/office/drawing/2014/main" id="{A6353642-DE8A-488A-92E2-D248BD20A039}"/>
              </a:ext>
            </a:extLst>
          </p:cNvPr>
          <p:cNvSpPr>
            <a:spLocks xmlns:a="http://schemas.openxmlformats.org/drawingml/2006/main" noGrp="1"/>
          </p:cNvSpPr>
          <p:nvPr/>
        </p:nvSpPr>
        <p:spPr>
          <a:xfrm xmlns:a="http://schemas.openxmlformats.org/drawingml/2006/main">
            <a:off x="8334375" y="2162175"/>
            <a:ext cx="31718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225" b="1">
                <a:solidFill>
                  <a:srgbClr val="262A54"/>
                </a:solidFill>
                <a:latin typeface="DejaVu Sans"/>
                <a:ea typeface="DejaVu Sans"/>
                <a:cs typeface="DejaVu Sans"/>
              </a:defRPr>
            </a:defPPr>
          </a:lstStyle>
          <a:p xmlns:a="http://schemas.openxmlformats.org/drawingml/2006/main">
            <a:pPr>
              <a:defRPr sz="6225" b="1">
                <a:solidFill>
                  <a:srgbClr val="262A54"/>
                </a:solidFill>
                <a:latin typeface="DejaVu Sans"/>
                <a:ea typeface="DejaVu Sans"/>
                <a:cs typeface="DejaVu Sans"/>
              </a:defRPr>
            </a:pPr>
            <a:r>
              <a:rPr sz="6225" b="1">
                <a:solidFill>
                  <a:srgbClr val="262A54"/>
                </a:solidFill>
                <a:latin typeface="DejaVu Sans"/>
                <a:ea typeface="DejaVu Sans"/>
                <a:cs typeface="DejaVu Sans"/>
              </a:rPr>
              <a:t>70%</a:t>
            </a:r>
          </a:p>
        </p:txBody>
      </p:sp>
      <p:sp>
        <p:nvSpPr>
          <p:cNvPr id="5" name="40 + 30 + 0 + 0">
            <a:extLst xmlns:a="http://schemas.openxmlformats.org/drawingml/2006/main">
              <a:ext uri="{FF2B5EF4-FFF2-40B4-BE49-F238E27FC236}">
                <a16:creationId xmlns:a16="http://schemas.microsoft.com/office/drawing/2014/main" id="{6656DDBF-CEB7-4DE3-81C0-5A15BB01E4FC}"/>
              </a:ext>
            </a:extLst>
          </p:cNvPr>
          <p:cNvSpPr>
            <a:spLocks xmlns:a="http://schemas.openxmlformats.org/drawingml/2006/main" noGrp="1"/>
          </p:cNvSpPr>
          <p:nvPr/>
        </p:nvSpPr>
        <p:spPr>
          <a:xfrm xmlns:a="http://schemas.openxmlformats.org/drawingml/2006/main">
            <a:off x="8334375" y="3457575"/>
            <a:ext cx="314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62A54"/>
                </a:solidFill>
                <a:latin typeface="DejaVu Sans"/>
                <a:ea typeface="DejaVu Sans"/>
                <a:cs typeface="DejaVu Sans"/>
              </a:defRPr>
            </a:defPPr>
          </a:lstStyle>
          <a:p xmlns:a="http://schemas.openxmlformats.org/drawingml/2006/main">
            <a:pPr>
              <a:defRPr sz="2100" b="0">
                <a:solidFill>
                  <a:srgbClr val="262A54"/>
                </a:solidFill>
                <a:latin typeface="DejaVu Sans"/>
                <a:ea typeface="DejaVu Sans"/>
                <a:cs typeface="DejaVu Sans"/>
              </a:defRPr>
            </a:pPr>
            <a:r>
              <a:rPr sz="2100" b="0">
                <a:solidFill>
                  <a:srgbClr val="262A54"/>
                </a:solidFill>
                <a:latin typeface="DejaVu Sans"/>
                <a:ea typeface="DejaVu Sans"/>
                <a:cs typeface="DejaVu Sans"/>
              </a:rPr>
              <a:t>40 + 30 + 0 + 0</a:t>
            </a:r>
          </a:p>
        </p:txBody>
      </p:sp>
      <p:sp>
        <p:nvSpPr>
          <p:cNvPr id="6" name="The organizer decides">
            <a:extLst xmlns:a="http://schemas.openxmlformats.org/drawingml/2006/main">
              <a:ext uri="{FF2B5EF4-FFF2-40B4-BE49-F238E27FC236}">
                <a16:creationId xmlns:a16="http://schemas.microsoft.com/office/drawing/2014/main" id="{8F4F0A0E-2A26-4B4D-80DC-B73D43BBE5C1}"/>
              </a:ext>
            </a:extLst>
          </p:cNvPr>
          <p:cNvSpPr>
            <a:spLocks xmlns:a="http://schemas.openxmlformats.org/drawingml/2006/main" noGrp="1"/>
          </p:cNvSpPr>
          <p:nvPr/>
        </p:nvSpPr>
        <p:spPr>
          <a:xfrm xmlns:a="http://schemas.openxmlformats.org/drawingml/2006/main">
            <a:off x="609600" y="561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62A54"/>
                </a:solidFill>
                <a:latin typeface="DejaVu Sans"/>
                <a:ea typeface="DejaVu Sans"/>
                <a:cs typeface="DejaVu Sans"/>
              </a:defRPr>
            </a:defPPr>
          </a:lstStyle>
          <a:p xmlns:a="http://schemas.openxmlformats.org/drawingml/2006/main">
            <a:pPr>
              <a:defRPr sz="2250" b="1">
                <a:solidFill>
                  <a:srgbClr val="262A54"/>
                </a:solidFill>
                <a:latin typeface="DejaVu Sans"/>
                <a:ea typeface="DejaVu Sans"/>
                <a:cs typeface="DejaVu Sans"/>
              </a:defRPr>
            </a:pPr>
            <a:r>
              <a:rPr sz="2250" b="1">
                <a:solidFill>
                  <a:srgbClr val="262A54"/>
                </a:solidFill>
                <a:latin typeface="DejaVu Sans"/>
                <a:ea typeface="DejaVu Sans"/>
                <a:cs typeface="DejaVu Sans"/>
              </a:rPr>
              <a:t>The organizer decides</a:t>
            </a:r>
          </a:p>
        </p:txBody>
      </p:sp>
    </p:spTree>
    <p:extLst>
      <p:ext uri="{BB962C8B-B14F-4D97-AF65-F5344CB8AC3E}">
        <p14:creationId xmlns:p14="http://schemas.microsoft.com/office/powerpoint/2010/main" val="1495742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pository and team workflow">
            <a:extLst xmlns:a="http://schemas.openxmlformats.org/drawingml/2006/main">
              <a:ext uri="{FF2B5EF4-FFF2-40B4-BE49-F238E27FC236}">
                <a16:creationId xmlns:a16="http://schemas.microsoft.com/office/drawing/2014/main" id="{63AC97D0-BC08-410F-9780-6DCDBAEDA5E2}"/>
              </a:ext>
            </a:extLst>
          </p:cNvPr>
          <p:cNvSpPr>
            <a:spLocks xmlns:a="http://schemas.openxmlformats.org/drawingml/2006/main" noGrp="1"/>
          </p:cNvSpPr>
          <p:nvPr/>
        </p:nvSpPr>
        <p:spPr>
          <a:xfrm xmlns:a="http://schemas.openxmlformats.org/drawingml/2006/main">
            <a:off x="609600" y="476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262A54"/>
                </a:solidFill>
                <a:latin typeface="DejaVu Sans"/>
                <a:ea typeface="DejaVu Sans"/>
                <a:cs typeface="DejaVu Sans"/>
              </a:defRPr>
            </a:defPPr>
          </a:lstStyle>
          <a:p xmlns:a="http://schemas.openxmlformats.org/drawingml/2006/main">
            <a:pPr>
              <a:defRPr sz="3225" b="1">
                <a:solidFill>
                  <a:srgbClr val="262A54"/>
                </a:solidFill>
                <a:latin typeface="DejaVu Sans"/>
                <a:ea typeface="DejaVu Sans"/>
                <a:cs typeface="DejaVu Sans"/>
              </a:defRPr>
            </a:pPr>
            <a:r>
              <a:rPr sz="3225" b="1">
                <a:solidFill>
                  <a:srgbClr val="262A54"/>
                </a:solidFill>
                <a:latin typeface="DejaVu Sans"/>
                <a:ea typeface="DejaVu Sans"/>
                <a:cs typeface="DejaVu Sans"/>
              </a:rPr>
              <a:t>Repository and team workflow</a:t>
            </a:r>
          </a:p>
        </p:txBody>
      </p:sp>
      <p:sp>
        <p:nvSpPr>
          <p:cNvPr id="2" name="11">
            <a:extLst xmlns:a="http://schemas.openxmlformats.org/drawingml/2006/main">
              <a:ext uri="{FF2B5EF4-FFF2-40B4-BE49-F238E27FC236}">
                <a16:creationId xmlns:a16="http://schemas.microsoft.com/office/drawing/2014/main" id="{2A90FF6F-6EE1-4A58-84A8-FCC5E518D419}"/>
              </a:ext>
            </a:extLst>
          </p:cNvPr>
          <p:cNvSpPr>
            <a:spLocks xmlns:a="http://schemas.openxmlformats.org/drawingml/2006/main" noGrp="1"/>
          </p:cNvSpPr>
          <p:nvPr/>
        </p:nvSpPr>
        <p:spPr>
          <a:xfrm xmlns:a="http://schemas.openxmlformats.org/drawingml/2006/main">
            <a:off x="11334750" y="6257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06878"/>
                </a:solidFill>
                <a:latin typeface="DejaVu Sans"/>
                <a:ea typeface="DejaVu Sans"/>
                <a:cs typeface="DejaVu Sans"/>
              </a:defRPr>
            </a:defPPr>
          </a:lstStyle>
          <a:p xmlns:a="http://schemas.openxmlformats.org/drawingml/2006/main">
            <a:pPr>
              <a:defRPr sz="1200" b="0">
                <a:solidFill>
                  <a:srgbClr val="606878"/>
                </a:solidFill>
                <a:latin typeface="DejaVu Sans"/>
                <a:ea typeface="DejaVu Sans"/>
                <a:cs typeface="DejaVu Sans"/>
              </a:defRPr>
            </a:pPr>
            <a:r>
              <a:rPr sz="1200" b="0">
                <a:solidFill>
                  <a:srgbClr val="606878"/>
                </a:solidFill>
                <a:latin typeface="DejaVu Sans"/>
                <a:ea typeface="DejaVu Sans"/>
                <a:cs typeface="DejaVu Sans"/>
              </a:rPr>
              <a:t>11</a:t>
            </a:r>
          </a:p>
        </p:txBody>
      </p:sp>
      <p:graphicFrame>
        <p:nvGraphicFramePr>
          <p:cNvPr id="3" name="">
            <a:extLst xmlns:a="http://schemas.openxmlformats.org/drawingml/2006/main">
              <a:ext uri="{FF2B5EF4-FFF2-40B4-BE49-F238E27FC236}">
                <a16:creationId xmlns:a16="http://schemas.microsoft.com/office/drawing/2014/main" id="{AEBA8BEB-C711-404E-839E-421ECC045A33}"/>
              </a:ext>
            </a:extLst>
          </p:cNvPr>
          <p:cNvGraphicFramePr/>
          <p:nvPr/>
        </p:nvGraphicFramePr>
        <p:xfrm>
          <a:off xmlns:a="http://schemas.openxmlformats.org/drawingml/2006/main" x="609600" y="1819275"/>
          <a:ext xmlns:a="http://schemas.openxmlformats.org/drawingml/2006/main" cx="10896600" cy="2628900"/>
        </p:xfrm>
        <a:graphic xmlns:a="http://schemas.openxmlformats.org/drawingml/2006/main">
          <a:graphicData uri="http://schemas.openxmlformats.org/drawingml/2006/table">
            <a:tbl>
              <a:tblPr/>
              <a:tblGrid>
                <a:gridCol w="2571750"/>
                <a:gridCol w="8324850"/>
              </a:tblGrid>
              <a:tr h="657225">
                <a:tc>
                  <a:txBody>
                    <a:bodyPr lIns="114300" tIns="114300" rIns="114300" bIns="114300"/>
                    <a:lstStyle/>
                    <a:p>
                      <a:r>
                        <a:rPr sz="1875" b="1">
                          <a:solidFill>
                            <a:srgbClr val="FFFFFF"/>
                          </a:solidFill>
                          <a:latin typeface="DejaVu Sans"/>
                          <a:ea typeface="DejaVu Sans"/>
                          <a:cs typeface="DejaVu Sans"/>
                        </a:rPr>
                        <a:t>Branch</a:t>
                      </a:r>
                    </a:p>
                  </a:txBody>
                  <a:tcPr marL="91440" marR="91440" marT="45720" marB="45720">
                    <a:solidFill>
                      <a:srgbClr val="262A54"/>
                    </a:solidFill>
                  </a:tcPr>
                </a:tc>
                <a:tc>
                  <a:txBody>
                    <a:bodyPr lIns="114300" tIns="114300" rIns="114300" bIns="114300"/>
                    <a:lstStyle/>
                    <a:p>
                      <a:r>
                        <a:rPr sz="1875" b="1">
                          <a:solidFill>
                            <a:srgbClr val="FFFFFF"/>
                          </a:solidFill>
                          <a:latin typeface="DejaVu Sans"/>
                          <a:ea typeface="DejaVu Sans"/>
                          <a:cs typeface="DejaVu Sans"/>
                        </a:rPr>
                        <a:t>Current contents</a:t>
                      </a:r>
                    </a:p>
                  </a:txBody>
                  <a:tcPr marL="91440" marR="91440" marT="45720" marB="45720">
                    <a:solidFill>
                      <a:srgbClr val="262A54"/>
                    </a:solidFill>
                  </a:tcPr>
                </a:tc>
              </a:tr>
              <a:tr h="657225">
                <a:tc>
                  <a:txBody>
                    <a:bodyPr lIns="114300" tIns="114300" rIns="114300" bIns="114300"/>
                    <a:lstStyle/>
                    <a:p>
                      <a:r>
                        <a:rPr sz="1875" b="0">
                          <a:solidFill>
                            <a:srgbClr val="262A54"/>
                          </a:solidFill>
                          <a:latin typeface="DejaVu Sans"/>
                          <a:ea typeface="DejaVu Sans"/>
                          <a:cs typeface="DejaVu Sans"/>
                        </a:rPr>
                        <a:t>main</a:t>
                      </a:r>
                    </a:p>
                  </a:txBody>
                  <a:tcPr marL="91440" marR="91440" marT="45720" marB="45720">
                    <a:solidFill>
                      <a:srgbClr val="FFFFFF"/>
                    </a:solidFill>
                  </a:tcPr>
                </a:tc>
                <a:tc>
                  <a:txBody>
                    <a:bodyPr lIns="114300" tIns="114300" rIns="114300" bIns="114300"/>
                    <a:lstStyle/>
                    <a:p>
                      <a:r>
                        <a:rPr sz="1875" b="0">
                          <a:solidFill>
                            <a:srgbClr val="262A54"/>
                          </a:solidFill>
                          <a:latin typeface="DejaVu Sans"/>
                          <a:ea typeface="DejaVu Sans"/>
                          <a:cs typeface="DejaVu Sans"/>
                        </a:rPr>
                        <a:t>Documentation</a:t>
                      </a:r>
                    </a:p>
                  </a:txBody>
                  <a:tcPr marL="91440" marR="91440" marT="45720" marB="45720">
                    <a:solidFill>
                      <a:srgbClr val="FFFFFF"/>
                    </a:solidFill>
                  </a:tcPr>
                </a:tc>
              </a:tr>
              <a:tr h="657225">
                <a:tc>
                  <a:txBody>
                    <a:bodyPr lIns="114300" tIns="114300" rIns="114300" bIns="114300"/>
                    <a:lstStyle/>
                    <a:p>
                      <a:r>
                        <a:rPr sz="1875" b="0">
                          <a:solidFill>
                            <a:srgbClr val="262A54"/>
                          </a:solidFill>
                          <a:latin typeface="DejaVu Sans"/>
                          <a:ea typeface="DejaVu Sans"/>
                          <a:cs typeface="DejaVu Sans"/>
                        </a:rPr>
                        <a:t>frontend</a:t>
                      </a:r>
                    </a:p>
                  </a:txBody>
                  <a:tcPr marL="91440" marR="91440" marT="45720" marB="45720">
                    <a:solidFill>
                      <a:srgbClr val="F0F3F7"/>
                    </a:solidFill>
                  </a:tcPr>
                </a:tc>
                <a:tc>
                  <a:txBody>
                    <a:bodyPr lIns="114300" tIns="114300" rIns="114300" bIns="114300"/>
                    <a:lstStyle/>
                    <a:p>
                      <a:r>
                        <a:rPr sz="1875" b="0">
                          <a:solidFill>
                            <a:srgbClr val="262A54"/>
                          </a:solidFill>
                          <a:latin typeface="DejaVu Sans"/>
                          <a:ea typeface="DejaVu Sans"/>
                          <a:cs typeface="DejaVu Sans"/>
                        </a:rPr>
                        <a:t>React interface preview</a:t>
                      </a:r>
                    </a:p>
                  </a:txBody>
                  <a:tcPr marL="91440" marR="91440" marT="45720" marB="45720">
                    <a:solidFill>
                      <a:srgbClr val="F0F3F7"/>
                    </a:solidFill>
                  </a:tcPr>
                </a:tc>
              </a:tr>
              <a:tr h="657225">
                <a:tc>
                  <a:txBody>
                    <a:bodyPr lIns="114300" tIns="114300" rIns="114300" bIns="114300"/>
                    <a:lstStyle/>
                    <a:p>
                      <a:r>
                        <a:rPr sz="1875" b="0">
                          <a:solidFill>
                            <a:srgbClr val="262A54"/>
                          </a:solidFill>
                          <a:latin typeface="DejaVu Sans"/>
                          <a:ea typeface="DejaVu Sans"/>
                          <a:cs typeface="DejaVu Sans"/>
                        </a:rPr>
                        <a:t>backend</a:t>
                      </a:r>
                    </a:p>
                  </a:txBody>
                  <a:tcPr marL="91440" marR="91440" marT="45720" marB="45720">
                    <a:solidFill>
                      <a:srgbClr val="FFFFFF"/>
                    </a:solidFill>
                  </a:tcPr>
                </a:tc>
                <a:tc>
                  <a:txBody>
                    <a:bodyPr lIns="114300" tIns="114300" rIns="114300" bIns="114300"/>
                    <a:lstStyle/>
                    <a:p>
                      <a:r>
                        <a:rPr sz="1875" b="0">
                          <a:solidFill>
                            <a:srgbClr val="262A54"/>
                          </a:solidFill>
                          <a:latin typeface="DejaVu Sans"/>
                          <a:ea typeface="DejaVu Sans"/>
                          <a:cs typeface="DejaVu Sans"/>
                        </a:rPr>
                        <a:t>README only; server planned</a:t>
                      </a:r>
                    </a:p>
                  </a:txBody>
                  <a:tcPr marL="91440" marR="91440" marT="45720" marB="45720">
                    <a:solidFill>
                      <a:srgbClr val="FFFFFF"/>
                    </a:solidFill>
                  </a:tcPr>
                </a:tc>
              </a:tr>
            </a:tbl>
          </a:graphicData>
        </a:graphic>
      </p:graphicFrame>
      <p:sp>
        <p:nvSpPr>
          <p:cNvPr id="4" name="Live evidence: commit history, PR list and Trello">
            <a:extLst xmlns:a="http://schemas.openxmlformats.org/drawingml/2006/main">
              <a:ext uri="{FF2B5EF4-FFF2-40B4-BE49-F238E27FC236}">
                <a16:creationId xmlns:a16="http://schemas.microsoft.com/office/drawing/2014/main" id="{379492DB-F11E-4E7D-B1B5-9D7228069065}"/>
              </a:ext>
            </a:extLst>
          </p:cNvPr>
          <p:cNvSpPr>
            <a:spLocks xmlns:a="http://schemas.openxmlformats.org/drawingml/2006/main" noGrp="1"/>
          </p:cNvSpPr>
          <p:nvPr/>
        </p:nvSpPr>
        <p:spPr>
          <a:xfrm xmlns:a="http://schemas.openxmlformats.org/drawingml/2006/main">
            <a:off x="609600" y="49720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62A54"/>
                </a:solidFill>
                <a:latin typeface="DejaVu Sans"/>
                <a:ea typeface="DejaVu Sans"/>
                <a:cs typeface="DejaVu Sans"/>
              </a:defRPr>
            </a:defPPr>
          </a:lstStyle>
          <a:p xmlns:a="http://schemas.openxmlformats.org/drawingml/2006/main">
            <a:pPr>
              <a:defRPr sz="2250" b="0">
                <a:solidFill>
                  <a:srgbClr val="262A54"/>
                </a:solidFill>
                <a:latin typeface="DejaVu Sans"/>
                <a:ea typeface="DejaVu Sans"/>
                <a:cs typeface="DejaVu Sans"/>
              </a:defRPr>
            </a:pPr>
            <a:r>
              <a:rPr sz="2250" b="0">
                <a:solidFill>
                  <a:srgbClr val="262A54"/>
                </a:solidFill>
                <a:latin typeface="DejaVu Sans"/>
                <a:ea typeface="DejaVu Sans"/>
                <a:cs typeface="DejaVu Sans"/>
              </a:rPr>
              <a:t>Live evidence: commit history, PR list and Trello</a:t>
            </a:r>
          </a:p>
        </p:txBody>
      </p:sp>
      <p:sp>
        <p:nvSpPr>
          <p:cNvPr id="5" name="PRs, branch protection and task ownership need real evidence">
            <a:extLst xmlns:a="http://schemas.openxmlformats.org/drawingml/2006/main">
              <a:ext uri="{FF2B5EF4-FFF2-40B4-BE49-F238E27FC236}">
                <a16:creationId xmlns:a16="http://schemas.microsoft.com/office/drawing/2014/main" id="{7C0C03E1-D3E2-4847-8AA9-F23946C8F3C4}"/>
              </a:ext>
            </a:extLst>
          </p:cNvPr>
          <p:cNvSpPr>
            <a:spLocks xmlns:a="http://schemas.openxmlformats.org/drawingml/2006/main" noGrp="1"/>
          </p:cNvSpPr>
          <p:nvPr/>
        </p:nvSpPr>
        <p:spPr>
          <a:xfrm xmlns:a="http://schemas.openxmlformats.org/drawingml/2006/main">
            <a:off x="609600" y="56959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6878"/>
                </a:solidFill>
                <a:latin typeface="DejaVu Sans"/>
                <a:ea typeface="DejaVu Sans"/>
                <a:cs typeface="DejaVu Sans"/>
              </a:defRPr>
            </a:defPPr>
          </a:lstStyle>
          <a:p xmlns:a="http://schemas.openxmlformats.org/drawingml/2006/main">
            <a:pPr>
              <a:defRPr sz="1650" b="0">
                <a:solidFill>
                  <a:srgbClr val="606878"/>
                </a:solidFill>
                <a:latin typeface="DejaVu Sans"/>
                <a:ea typeface="DejaVu Sans"/>
                <a:cs typeface="DejaVu Sans"/>
              </a:defRPr>
            </a:pPr>
            <a:r>
              <a:rPr sz="1650" b="0">
                <a:solidFill>
                  <a:srgbClr val="606878"/>
                </a:solidFill>
                <a:latin typeface="DejaVu Sans"/>
                <a:ea typeface="DejaVu Sans"/>
                <a:cs typeface="DejaVu Sans"/>
              </a:rPr>
              <a:t>PRs, branch protection and task ownership need real evidence</a:t>
            </a:r>
          </a:p>
        </p:txBody>
      </p:sp>
    </p:spTree>
    <p:extLst>
      <p:ext uri="{BB962C8B-B14F-4D97-AF65-F5344CB8AC3E}">
        <p14:creationId xmlns:p14="http://schemas.microsoft.com/office/powerpoint/2010/main" val="7008159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Implementation plan">
            <a:extLst xmlns:a="http://schemas.openxmlformats.org/drawingml/2006/main">
              <a:ext uri="{FF2B5EF4-FFF2-40B4-BE49-F238E27FC236}">
                <a16:creationId xmlns:a16="http://schemas.microsoft.com/office/drawing/2014/main" id="{620059B4-9290-4398-9E8D-BB9A0B3360E1}"/>
              </a:ext>
            </a:extLst>
          </p:cNvPr>
          <p:cNvSpPr>
            <a:spLocks xmlns:a="http://schemas.openxmlformats.org/drawingml/2006/main" noGrp="1"/>
          </p:cNvSpPr>
          <p:nvPr/>
        </p:nvSpPr>
        <p:spPr>
          <a:xfrm xmlns:a="http://schemas.openxmlformats.org/drawingml/2006/main">
            <a:off x="609600" y="4762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262A54"/>
                </a:solidFill>
                <a:latin typeface="DejaVu Sans"/>
                <a:ea typeface="DejaVu Sans"/>
                <a:cs typeface="DejaVu Sans"/>
              </a:defRPr>
            </a:defPPr>
          </a:lstStyle>
          <a:p xmlns:a="http://schemas.openxmlformats.org/drawingml/2006/main">
            <a:pPr>
              <a:defRPr sz="3225" b="1">
                <a:solidFill>
                  <a:srgbClr val="262A54"/>
                </a:solidFill>
                <a:latin typeface="DejaVu Sans"/>
                <a:ea typeface="DejaVu Sans"/>
                <a:cs typeface="DejaVu Sans"/>
              </a:defRPr>
            </a:pPr>
            <a:r>
              <a:rPr sz="3225" b="1">
                <a:solidFill>
                  <a:srgbClr val="262A54"/>
                </a:solidFill>
                <a:latin typeface="DejaVu Sans"/>
                <a:ea typeface="DejaVu Sans"/>
                <a:cs typeface="DejaVu Sans"/>
              </a:rPr>
              <a:t>Implementation plan</a:t>
            </a:r>
          </a:p>
        </p:txBody>
      </p:sp>
      <p:sp>
        <p:nvSpPr>
          <p:cNvPr id="2" name="12">
            <a:extLst xmlns:a="http://schemas.openxmlformats.org/drawingml/2006/main">
              <a:ext uri="{FF2B5EF4-FFF2-40B4-BE49-F238E27FC236}">
                <a16:creationId xmlns:a16="http://schemas.microsoft.com/office/drawing/2014/main" id="{AD9939B6-02B4-4F57-9969-E3836A38EDE0}"/>
              </a:ext>
            </a:extLst>
          </p:cNvPr>
          <p:cNvSpPr>
            <a:spLocks xmlns:a="http://schemas.openxmlformats.org/drawingml/2006/main" noGrp="1"/>
          </p:cNvSpPr>
          <p:nvPr/>
        </p:nvSpPr>
        <p:spPr>
          <a:xfrm xmlns:a="http://schemas.openxmlformats.org/drawingml/2006/main">
            <a:off x="11334750" y="6257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06878"/>
                </a:solidFill>
                <a:latin typeface="DejaVu Sans"/>
                <a:ea typeface="DejaVu Sans"/>
                <a:cs typeface="DejaVu Sans"/>
              </a:defRPr>
            </a:defPPr>
          </a:lstStyle>
          <a:p xmlns:a="http://schemas.openxmlformats.org/drawingml/2006/main">
            <a:pPr>
              <a:defRPr sz="1200" b="0">
                <a:solidFill>
                  <a:srgbClr val="606878"/>
                </a:solidFill>
                <a:latin typeface="DejaVu Sans"/>
                <a:ea typeface="DejaVu Sans"/>
                <a:cs typeface="DejaVu Sans"/>
              </a:defRPr>
            </a:pPr>
            <a:r>
              <a:rPr sz="1200" b="0">
                <a:solidFill>
                  <a:srgbClr val="606878"/>
                </a:solidFill>
                <a:latin typeface="DejaVu Sans"/>
                <a:ea typeface="DejaVu Sans"/>
                <a:cs typeface="DejaVu Sans"/>
              </a:rPr>
              <a:t>12</a:t>
            </a:r>
          </a:p>
        </p:txBody>
      </p:sp>
      <p:graphicFrame>
        <p:nvGraphicFramePr>
          <p:cNvPr id="3" name="">
            <a:extLst xmlns:a="http://schemas.openxmlformats.org/drawingml/2006/main">
              <a:ext uri="{FF2B5EF4-FFF2-40B4-BE49-F238E27FC236}">
                <a16:creationId xmlns:a16="http://schemas.microsoft.com/office/drawing/2014/main" id="{1AB232EC-0559-4A47-BAB5-CD86CF3F2077}"/>
              </a:ext>
            </a:extLst>
          </p:cNvPr>
          <p:cNvGraphicFramePr/>
          <p:nvPr/>
        </p:nvGraphicFramePr>
        <p:xfrm>
          <a:off xmlns:a="http://schemas.openxmlformats.org/drawingml/2006/main" x="609600" y="1790700"/>
          <a:ext xmlns:a="http://schemas.openxmlformats.org/drawingml/2006/main" cx="10896600" cy="3390900"/>
        </p:xfrm>
        <a:graphic xmlns:a="http://schemas.openxmlformats.org/drawingml/2006/main">
          <a:graphicData uri="http://schemas.openxmlformats.org/drawingml/2006/table">
            <a:tbl>
              <a:tblPr/>
              <a:tblGrid>
                <a:gridCol w="2781300"/>
                <a:gridCol w="8115300"/>
              </a:tblGrid>
              <a:tr h="678180">
                <a:tc>
                  <a:txBody>
                    <a:bodyPr lIns="114300" tIns="114300" rIns="114300" bIns="114300"/>
                    <a:lstStyle/>
                    <a:p>
                      <a:r>
                        <a:rPr sz="2025" b="1">
                          <a:solidFill>
                            <a:srgbClr val="FFFFFF"/>
                          </a:solidFill>
                          <a:latin typeface="DejaVu Sans"/>
                          <a:ea typeface="DejaVu Sans"/>
                          <a:cs typeface="DejaVu Sans"/>
                        </a:rPr>
                        <a:t>Course weeks</a:t>
                      </a:r>
                    </a:p>
                  </a:txBody>
                  <a:tcPr marL="91440" marR="91440" marT="45720" marB="45720">
                    <a:solidFill>
                      <a:srgbClr val="262A54"/>
                    </a:solidFill>
                  </a:tcPr>
                </a:tc>
                <a:tc>
                  <a:txBody>
                    <a:bodyPr lIns="114300" tIns="114300" rIns="114300" bIns="114300"/>
                    <a:lstStyle/>
                    <a:p>
                      <a:r>
                        <a:rPr sz="2025" b="1">
                          <a:solidFill>
                            <a:srgbClr val="FFFFFF"/>
                          </a:solidFill>
                          <a:latin typeface="DejaVu Sans"/>
                          <a:ea typeface="DejaVu Sans"/>
                          <a:cs typeface="DejaVu Sans"/>
                        </a:rPr>
                        <a:t>Proposed work</a:t>
                      </a:r>
                    </a:p>
                  </a:txBody>
                  <a:tcPr marL="91440" marR="91440" marT="45720" marB="45720">
                    <a:solidFill>
                      <a:srgbClr val="262A54"/>
                    </a:solidFill>
                  </a:tcPr>
                </a:tc>
              </a:tr>
              <a:tr h="678180">
                <a:tc>
                  <a:txBody>
                    <a:bodyPr lIns="114300" tIns="114300" rIns="114300" bIns="114300"/>
                    <a:lstStyle/>
                    <a:p>
                      <a:r>
                        <a:rPr sz="2025" b="0">
                          <a:solidFill>
                            <a:srgbClr val="262A54"/>
                          </a:solidFill>
                          <a:latin typeface="DejaVu Sans"/>
                          <a:ea typeface="DejaVu Sans"/>
                          <a:cs typeface="DejaVu Sans"/>
                        </a:rPr>
                        <a:t>6–7</a:t>
                      </a:r>
                    </a:p>
                  </a:txBody>
                  <a:tcPr marL="91440" marR="91440" marT="45720" marB="45720">
                    <a:solidFill>
                      <a:srgbClr val="FFFFFF"/>
                    </a:solidFill>
                  </a:tcPr>
                </a:tc>
                <a:tc>
                  <a:txBody>
                    <a:bodyPr lIns="114300" tIns="114300" rIns="114300" bIns="114300"/>
                    <a:lstStyle/>
                    <a:p>
                      <a:r>
                        <a:rPr sz="2025" b="0">
                          <a:solidFill>
                            <a:srgbClr val="262A54"/>
                          </a:solidFill>
                          <a:latin typeface="DejaVu Sans"/>
                          <a:ea typeface="DejaVu Sans"/>
                          <a:cs typeface="DejaVu Sans"/>
                        </a:rPr>
                        <a:t>Accounts and API contracts</a:t>
                      </a:r>
                    </a:p>
                  </a:txBody>
                  <a:tcPr marL="91440" marR="91440" marT="45720" marB="45720">
                    <a:solidFill>
                      <a:srgbClr val="FFFFFF"/>
                    </a:solidFill>
                  </a:tcPr>
                </a:tc>
              </a:tr>
              <a:tr h="678180">
                <a:tc>
                  <a:txBody>
                    <a:bodyPr lIns="114300" tIns="114300" rIns="114300" bIns="114300"/>
                    <a:lstStyle/>
                    <a:p>
                      <a:r>
                        <a:rPr sz="2025" b="0">
                          <a:solidFill>
                            <a:srgbClr val="262A54"/>
                          </a:solidFill>
                          <a:latin typeface="DejaVu Sans"/>
                          <a:ea typeface="DejaVu Sans"/>
                          <a:cs typeface="DejaVu Sans"/>
                        </a:rPr>
                        <a:t>8–10</a:t>
                      </a:r>
                    </a:p>
                  </a:txBody>
                  <a:tcPr marL="91440" marR="91440" marT="45720" marB="45720">
                    <a:solidFill>
                      <a:srgbClr val="F0F3F7"/>
                    </a:solidFill>
                  </a:tcPr>
                </a:tc>
                <a:tc>
                  <a:txBody>
                    <a:bodyPr lIns="114300" tIns="114300" rIns="114300" bIns="114300"/>
                    <a:lstStyle/>
                    <a:p>
                      <a:r>
                        <a:rPr sz="2025" b="0">
                          <a:solidFill>
                            <a:srgbClr val="262A54"/>
                          </a:solidFill>
                          <a:latin typeface="DejaVu Sans"/>
                          <a:ea typeface="DejaVu Sans"/>
                          <a:cs typeface="DejaVu Sans"/>
                        </a:rPr>
                        <a:t>Groups, requests and compatibility</a:t>
                      </a:r>
                    </a:p>
                  </a:txBody>
                  <a:tcPr marL="91440" marR="91440" marT="45720" marB="45720">
                    <a:solidFill>
                      <a:srgbClr val="F0F3F7"/>
                    </a:solidFill>
                  </a:tcPr>
                </a:tc>
              </a:tr>
              <a:tr h="678180">
                <a:tc>
                  <a:txBody>
                    <a:bodyPr lIns="114300" tIns="114300" rIns="114300" bIns="114300"/>
                    <a:lstStyle/>
                    <a:p>
                      <a:r>
                        <a:rPr sz="2025" b="0">
                          <a:solidFill>
                            <a:srgbClr val="262A54"/>
                          </a:solidFill>
                          <a:latin typeface="DejaVu Sans"/>
                          <a:ea typeface="DejaVu Sans"/>
                          <a:cs typeface="DejaVu Sans"/>
                        </a:rPr>
                        <a:t>11–13</a:t>
                      </a:r>
                    </a:p>
                  </a:txBody>
                  <a:tcPr marL="91440" marR="91440" marT="45720" marB="45720">
                    <a:solidFill>
                      <a:srgbClr val="FFFFFF"/>
                    </a:solidFill>
                  </a:tcPr>
                </a:tc>
                <a:tc>
                  <a:txBody>
                    <a:bodyPr lIns="114300" tIns="114300" rIns="114300" bIns="114300"/>
                    <a:lstStyle/>
                    <a:p>
                      <a:r>
                        <a:rPr sz="2025" b="0">
                          <a:solidFill>
                            <a:srgbClr val="262A54"/>
                          </a:solidFill>
                          <a:latin typeface="DejaVu Sans"/>
                          <a:ea typeface="DejaVu Sans"/>
                          <a:cs typeface="DejaVu Sans"/>
                        </a:rPr>
                        <a:t>Integration and acceptance tests</a:t>
                      </a:r>
                    </a:p>
                  </a:txBody>
                  <a:tcPr marL="91440" marR="91440" marT="45720" marB="45720">
                    <a:solidFill>
                      <a:srgbClr val="FFFFFF"/>
                    </a:solidFill>
                  </a:tcPr>
                </a:tc>
              </a:tr>
              <a:tr h="678180">
                <a:tc>
                  <a:txBody>
                    <a:bodyPr lIns="114300" tIns="114300" rIns="114300" bIns="114300"/>
                    <a:lstStyle/>
                    <a:p>
                      <a:r>
                        <a:rPr sz="2025" b="0">
                          <a:solidFill>
                            <a:srgbClr val="262A54"/>
                          </a:solidFill>
                          <a:latin typeface="DejaVu Sans"/>
                          <a:ea typeface="DejaVu Sans"/>
                          <a:cs typeface="DejaVu Sans"/>
                        </a:rPr>
                        <a:t>14–15</a:t>
                      </a:r>
                    </a:p>
                  </a:txBody>
                  <a:tcPr marL="91440" marR="91440" marT="45720" marB="45720">
                    <a:solidFill>
                      <a:srgbClr val="F0F3F7"/>
                    </a:solidFill>
                  </a:tcPr>
                </a:tc>
                <a:tc>
                  <a:txBody>
                    <a:bodyPr lIns="114300" tIns="114300" rIns="114300" bIns="114300"/>
                    <a:lstStyle/>
                    <a:p>
                      <a:r>
                        <a:rPr sz="2025" b="0">
                          <a:solidFill>
                            <a:srgbClr val="262A54"/>
                          </a:solidFill>
                          <a:latin typeface="DejaVu Sans"/>
                          <a:ea typeface="DejaVu Sans"/>
                          <a:cs typeface="DejaVu Sans"/>
                        </a:rPr>
                        <a:t>Fixes and final demonstration</a:t>
                      </a:r>
                    </a:p>
                  </a:txBody>
                  <a:tcPr marL="91440" marR="91440" marT="45720" marB="45720">
                    <a:solidFill>
                      <a:srgbClr val="F0F3F7"/>
                    </a:solidFill>
                  </a:tcPr>
                </a:tc>
              </a:tr>
            </a:tbl>
          </a:graphicData>
        </a:graphic>
      </p:graphicFrame>
      <p:sp>
        <p:nvSpPr>
          <p:cNvPr id="4" name="The 11 Must stories come first">
            <a:extLst xmlns:a="http://schemas.openxmlformats.org/drawingml/2006/main">
              <a:ext uri="{FF2B5EF4-FFF2-40B4-BE49-F238E27FC236}">
                <a16:creationId xmlns:a16="http://schemas.microsoft.com/office/drawing/2014/main" id="{D5EC75E7-2ED7-421A-B0BA-7DC406399A21}"/>
              </a:ext>
            </a:extLst>
          </p:cNvPr>
          <p:cNvSpPr>
            <a:spLocks xmlns:a="http://schemas.openxmlformats.org/drawingml/2006/main" noGrp="1"/>
          </p:cNvSpPr>
          <p:nvPr/>
        </p:nvSpPr>
        <p:spPr>
          <a:xfrm xmlns:a="http://schemas.openxmlformats.org/drawingml/2006/main">
            <a:off x="609600" y="5695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62A54"/>
                </a:solidFill>
                <a:latin typeface="DejaVu Sans"/>
                <a:ea typeface="DejaVu Sans"/>
                <a:cs typeface="DejaVu Sans"/>
              </a:defRPr>
            </a:defPPr>
          </a:lstStyle>
          <a:p xmlns:a="http://schemas.openxmlformats.org/drawingml/2006/main">
            <a:pPr>
              <a:defRPr sz="2400" b="1">
                <a:solidFill>
                  <a:srgbClr val="262A54"/>
                </a:solidFill>
                <a:latin typeface="DejaVu Sans"/>
                <a:ea typeface="DejaVu Sans"/>
                <a:cs typeface="DejaVu Sans"/>
              </a:defRPr>
            </a:pPr>
            <a:r>
              <a:rPr sz="2400" b="1">
                <a:solidFill>
                  <a:srgbClr val="262A54"/>
                </a:solidFill>
                <a:latin typeface="DejaVu Sans"/>
                <a:ea typeface="DejaVu Sans"/>
                <a:cs typeface="DejaVu Sans"/>
              </a:rPr>
              <a:t>The 11 Must stories come first</a:t>
            </a:r>
          </a:p>
        </p:txBody>
      </p:sp>
    </p:spTree>
    <p:extLst>
      <p:ext uri="{BB962C8B-B14F-4D97-AF65-F5344CB8AC3E}">
        <p14:creationId xmlns:p14="http://schemas.microsoft.com/office/powerpoint/2010/main" val="749983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2026-10-08T19:05:35.7040000Z</dcterms:created>
  <dcterms:modified xsi:type="dcterms:W3CDTF">2026-10-08T19:05:35.7040000Z</dcterms:modified>
</coreProperties>
</file>